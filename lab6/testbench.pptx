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7" r:id="rId9"/>
    <p:sldId id="270" r:id="rId10"/>
    <p:sldId id="268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2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189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37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501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496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019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0215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0994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179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9188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29086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4162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FDC5F0-6009-4134-AFB3-727F0E35938B}" type="datetimeFigureOut">
              <a:rPr lang="zh-TW" altLang="en-US" smtClean="0"/>
              <a:t>2018/12/11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7A16B-1737-49FA-8994-65AC00C49C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312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b="1" dirty="0" err="1">
                <a:latin typeface="標楷體" panose="03000509000000000000" pitchFamily="65" charset="-120"/>
                <a:ea typeface="標楷體" panose="03000509000000000000" pitchFamily="65" charset="-120"/>
              </a:rPr>
              <a:t>T</a:t>
            </a:r>
            <a:r>
              <a:rPr lang="en-US" altLang="zh-TW" b="1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estbench</a:t>
            </a:r>
            <a:r>
              <a:rPr lang="zh-TW" altLang="en-US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教學</a:t>
            </a:r>
            <a:endParaRPr lang="zh-TW" altLang="en-US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57618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橢圓 45"/>
          <p:cNvSpPr/>
          <p:nvPr/>
        </p:nvSpPr>
        <p:spPr>
          <a:xfrm>
            <a:off x="1985777" y="2124974"/>
            <a:ext cx="871710" cy="387543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</a:rPr>
              <a:t>產生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何謂</a:t>
            </a:r>
            <a:r>
              <a:rPr lang="en-US" altLang="zh-TW" dirty="0" err="1" smtClean="0"/>
              <a:t>testbench</a:t>
            </a:r>
            <a:r>
              <a:rPr lang="zh-TW" altLang="en-US" dirty="0" smtClean="0"/>
              <a:t>？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71649" y="1354666"/>
            <a:ext cx="8264173" cy="539608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909252" y="1309750"/>
            <a:ext cx="1704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err="1" smtClean="0"/>
              <a:t>Testbench</a:t>
            </a:r>
            <a:endParaRPr lang="en-US" dirty="0"/>
          </a:p>
        </p:txBody>
      </p:sp>
      <p:grpSp>
        <p:nvGrpSpPr>
          <p:cNvPr id="21" name="Group 20"/>
          <p:cNvGrpSpPr/>
          <p:nvPr/>
        </p:nvGrpSpPr>
        <p:grpSpPr>
          <a:xfrm>
            <a:off x="3488263" y="2159702"/>
            <a:ext cx="4481690" cy="3801709"/>
            <a:chOff x="1015999" y="2045935"/>
            <a:chExt cx="4481690" cy="3801709"/>
          </a:xfrm>
        </p:grpSpPr>
        <p:sp>
          <p:nvSpPr>
            <p:cNvPr id="6" name="Rectangle 5"/>
            <p:cNvSpPr/>
            <p:nvPr/>
          </p:nvSpPr>
          <p:spPr>
            <a:xfrm>
              <a:off x="1015999" y="2074424"/>
              <a:ext cx="4481690" cy="3773220"/>
            </a:xfrm>
            <a:prstGeom prst="rect">
              <a:avLst/>
            </a:prstGeom>
            <a:noFill/>
            <a:ln w="571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08944" y="2045935"/>
              <a:ext cx="1704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待測</a:t>
              </a:r>
              <a:r>
                <a:rPr lang="zh-TW" altLang="en-US" dirty="0" smtClean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</a:t>
              </a:r>
              <a:r>
                <a:rPr lang="zh-TW" altLang="en-US" dirty="0" smtClean="0"/>
                <a:t> </a:t>
              </a:r>
              <a:r>
                <a:rPr lang="en-US" altLang="zh-TW" dirty="0" smtClean="0"/>
                <a:t>module</a:t>
              </a:r>
              <a:endParaRPr lang="en-US" dirty="0"/>
            </a:p>
          </p:txBody>
        </p:sp>
        <p:grpSp>
          <p:nvGrpSpPr>
            <p:cNvPr id="16" name="Group 15"/>
            <p:cNvGrpSpPr/>
            <p:nvPr/>
          </p:nvGrpSpPr>
          <p:grpSpPr>
            <a:xfrm>
              <a:off x="1236837" y="2671651"/>
              <a:ext cx="1484490" cy="838904"/>
              <a:chOff x="1439332" y="2897718"/>
              <a:chExt cx="1484490" cy="838904"/>
            </a:xfrm>
          </p:grpSpPr>
          <p:sp>
            <p:nvSpPr>
              <p:cNvPr id="12" name="Trapezoid 11"/>
              <p:cNvSpPr/>
              <p:nvPr/>
            </p:nvSpPr>
            <p:spPr>
              <a:xfrm rot="10800000">
                <a:off x="1439332" y="2897718"/>
                <a:ext cx="1484490" cy="838904"/>
              </a:xfrm>
              <a:prstGeom prst="trapezoi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1584675" y="3108485"/>
                <a:ext cx="11091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Module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1</a:t>
                </a:r>
                <a:endParaRPr lang="en-US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3127022" y="2720961"/>
              <a:ext cx="1422400" cy="1061156"/>
              <a:chOff x="3572933" y="3046236"/>
              <a:chExt cx="1422400" cy="1061156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3572933" y="3046236"/>
                <a:ext cx="1422400" cy="10611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735210" y="3409242"/>
                <a:ext cx="11091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Module</a:t>
                </a:r>
                <a:r>
                  <a:rPr lang="zh-TW" altLang="en-US" dirty="0" smtClean="0"/>
                  <a:t> </a:t>
                </a:r>
                <a:r>
                  <a:rPr lang="en-US" altLang="zh-TW" dirty="0"/>
                  <a:t>2</a:t>
                </a:r>
                <a:endParaRPr lang="en-US" dirty="0"/>
              </a:p>
            </p:txBody>
          </p:sp>
        </p:grpSp>
        <p:sp>
          <p:nvSpPr>
            <p:cNvPr id="17" name="TextBox 16"/>
            <p:cNvSpPr txBox="1"/>
            <p:nvPr/>
          </p:nvSpPr>
          <p:spPr>
            <a:xfrm>
              <a:off x="2836331" y="3580357"/>
              <a:ext cx="44520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 smtClean="0"/>
                <a:t>.</a:t>
              </a:r>
            </a:p>
            <a:p>
              <a:r>
                <a:rPr lang="en-US" altLang="zh-TW" sz="2000" b="1" dirty="0" smtClean="0"/>
                <a:t>.</a:t>
              </a:r>
            </a:p>
            <a:p>
              <a:r>
                <a:rPr lang="en-US" altLang="zh-TW" sz="2000" b="1" dirty="0"/>
                <a:t>.</a:t>
              </a:r>
              <a:endParaRPr lang="en-US" sz="2000" b="1" dirty="0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2438400" y="4591851"/>
              <a:ext cx="1422400" cy="1061156"/>
              <a:chOff x="3572933" y="3046236"/>
              <a:chExt cx="1422400" cy="1061156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3572933" y="3046236"/>
                <a:ext cx="1422400" cy="1061156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3735210" y="3409242"/>
                <a:ext cx="110913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/>
                  <a:t>Module</a:t>
                </a:r>
                <a:r>
                  <a:rPr lang="zh-TW" altLang="en-US" dirty="0" smtClean="0"/>
                  <a:t> </a:t>
                </a:r>
                <a:r>
                  <a:rPr lang="en-US" altLang="zh-TW" dirty="0" smtClean="0"/>
                  <a:t>N</a:t>
                </a:r>
              </a:p>
            </p:txBody>
          </p:sp>
        </p:grpSp>
      </p:grpSp>
      <p:grpSp>
        <p:nvGrpSpPr>
          <p:cNvPr id="36" name="Group 35"/>
          <p:cNvGrpSpPr/>
          <p:nvPr/>
        </p:nvGrpSpPr>
        <p:grpSpPr>
          <a:xfrm>
            <a:off x="1946266" y="2400597"/>
            <a:ext cx="1717676" cy="2795777"/>
            <a:chOff x="252933" y="2423175"/>
            <a:chExt cx="1717676" cy="2795777"/>
          </a:xfrm>
        </p:grpSpPr>
        <p:cxnSp>
          <p:nvCxnSpPr>
            <p:cNvPr id="23" name="Straight Arrow Connector 22"/>
            <p:cNvCxnSpPr/>
            <p:nvPr/>
          </p:nvCxnSpPr>
          <p:spPr>
            <a:xfrm>
              <a:off x="973668" y="2826908"/>
              <a:ext cx="77611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973667" y="3364834"/>
              <a:ext cx="77611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>
              <a:off x="973666" y="5218952"/>
              <a:ext cx="77611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1215666" y="3665363"/>
              <a:ext cx="44520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 smtClean="0"/>
                <a:t>.</a:t>
              </a:r>
            </a:p>
            <a:p>
              <a:r>
                <a:rPr lang="en-US" altLang="zh-TW" sz="2000" b="1" dirty="0" smtClean="0"/>
                <a:t>.</a:t>
              </a:r>
            </a:p>
            <a:p>
              <a:r>
                <a:rPr lang="en-US" altLang="zh-TW" sz="2000" b="1" dirty="0"/>
                <a:t>.</a:t>
              </a:r>
              <a:endParaRPr lang="en-US" sz="2000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5987" y="2423175"/>
              <a:ext cx="1704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Input1</a:t>
              </a:r>
              <a:endParaRPr lang="en-US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52933" y="2980008"/>
              <a:ext cx="1704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Input2</a:t>
              </a:r>
              <a:endParaRPr lang="en-US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59277" y="4831775"/>
              <a:ext cx="1704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/>
                <a:t>InputN</a:t>
              </a:r>
              <a:endParaRPr lang="en-US" altLang="zh-TW" dirty="0" smtClean="0"/>
            </a:p>
          </p:txBody>
        </p:sp>
      </p:grpSp>
      <p:cxnSp>
        <p:nvCxnSpPr>
          <p:cNvPr id="33" name="Elbow Connector 32"/>
          <p:cNvCxnSpPr>
            <a:stCxn id="12" idx="1"/>
            <a:endCxn id="8" idx="1"/>
          </p:cNvCxnSpPr>
          <p:nvPr/>
        </p:nvCxnSpPr>
        <p:spPr>
          <a:xfrm>
            <a:off x="5088728" y="3204870"/>
            <a:ext cx="510558" cy="160436"/>
          </a:xfrm>
          <a:prstGeom prst="bentConnector3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Elbow Connector 34"/>
          <p:cNvCxnSpPr>
            <a:stCxn id="12" idx="0"/>
            <a:endCxn id="19" idx="1"/>
          </p:cNvCxnSpPr>
          <p:nvPr/>
        </p:nvCxnSpPr>
        <p:spPr>
          <a:xfrm rot="16200000" flipH="1">
            <a:off x="3875068" y="4200600"/>
            <a:ext cx="1611874" cy="459318"/>
          </a:xfrm>
          <a:prstGeom prst="bentConnector2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7" name="Group 36"/>
          <p:cNvGrpSpPr/>
          <p:nvPr/>
        </p:nvGrpSpPr>
        <p:grpSpPr>
          <a:xfrm>
            <a:off x="7303907" y="2312673"/>
            <a:ext cx="1717676" cy="2795777"/>
            <a:chOff x="252933" y="2423175"/>
            <a:chExt cx="1717676" cy="2795777"/>
          </a:xfrm>
        </p:grpSpPr>
        <p:cxnSp>
          <p:nvCxnSpPr>
            <p:cNvPr id="38" name="Straight Arrow Connector 37"/>
            <p:cNvCxnSpPr/>
            <p:nvPr/>
          </p:nvCxnSpPr>
          <p:spPr>
            <a:xfrm>
              <a:off x="973668" y="2826908"/>
              <a:ext cx="77611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/>
            <p:nvPr/>
          </p:nvCxnSpPr>
          <p:spPr>
            <a:xfrm>
              <a:off x="973667" y="3364834"/>
              <a:ext cx="77611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973666" y="5218952"/>
              <a:ext cx="776111" cy="0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1215666" y="3665363"/>
              <a:ext cx="445205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2000" b="1" dirty="0" smtClean="0"/>
                <a:t>.</a:t>
              </a:r>
            </a:p>
            <a:p>
              <a:r>
                <a:rPr lang="en-US" altLang="zh-TW" sz="2000" b="1" dirty="0" smtClean="0"/>
                <a:t>.</a:t>
              </a:r>
            </a:p>
            <a:p>
              <a:r>
                <a:rPr lang="en-US" altLang="zh-TW" sz="2000" b="1" dirty="0"/>
                <a:t>.</a:t>
              </a:r>
              <a:endParaRPr lang="en-US" sz="2000" b="1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65987" y="2423175"/>
              <a:ext cx="1704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Output1</a:t>
              </a:r>
              <a:endParaRPr lang="en-US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252933" y="2980008"/>
              <a:ext cx="1704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smtClean="0"/>
                <a:t>Output2</a:t>
              </a:r>
              <a:endParaRPr lang="en-US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259277" y="4831775"/>
              <a:ext cx="1704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dirty="0" err="1" smtClean="0"/>
                <a:t>OutputN</a:t>
              </a:r>
              <a:endParaRPr lang="en-US" altLang="zh-TW" dirty="0" smtClean="0"/>
            </a:p>
          </p:txBody>
        </p:sp>
      </p:grpSp>
      <p:sp>
        <p:nvSpPr>
          <p:cNvPr id="3" name="橢圓 2"/>
          <p:cNvSpPr/>
          <p:nvPr/>
        </p:nvSpPr>
        <p:spPr>
          <a:xfrm>
            <a:off x="8633896" y="2137083"/>
            <a:ext cx="871710" cy="3875436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</a:rPr>
              <a:t>觀察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07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何謂</a:t>
            </a:r>
            <a:r>
              <a:rPr lang="en-US" altLang="zh-TW" dirty="0" err="1"/>
              <a:t>testbench</a:t>
            </a:r>
            <a:r>
              <a:rPr lang="zh-TW" altLang="en-US" dirty="0"/>
              <a:t>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就是個大module</a:t>
            </a:r>
            <a:r>
              <a:rPr lang="en-US" dirty="0" err="1" smtClean="0"/>
              <a:t>包住待測</a:t>
            </a:r>
            <a:r>
              <a:rPr lang="zh-TW" altLang="en-US" dirty="0" smtClean="0"/>
              <a:t>的</a:t>
            </a:r>
            <a:r>
              <a:rPr lang="en-US" dirty="0" smtClean="0"/>
              <a:t>module</a:t>
            </a:r>
          </a:p>
          <a:p>
            <a:r>
              <a:rPr lang="en-US" dirty="0" smtClean="0"/>
              <a:t>負</a:t>
            </a:r>
            <a:r>
              <a:rPr lang="zh-TW" altLang="en-US" dirty="0" smtClean="0"/>
              <a:t>責產生</a:t>
            </a:r>
            <a:r>
              <a:rPr lang="en-US" dirty="0" smtClean="0"/>
              <a:t>input</a:t>
            </a:r>
            <a:r>
              <a:rPr lang="zh-TW" altLang="en-US" dirty="0" smtClean="0"/>
              <a:t>訊號</a:t>
            </a:r>
            <a:r>
              <a:rPr lang="en-US" dirty="0" smtClean="0"/>
              <a:t>，</a:t>
            </a:r>
            <a:r>
              <a:rPr lang="zh-TW" altLang="en-US" dirty="0" smtClean="0"/>
              <a:t>並且可以</a:t>
            </a:r>
            <a:r>
              <a:rPr lang="en-US" dirty="0" err="1" smtClean="0"/>
              <a:t>觀察output</a:t>
            </a:r>
            <a:r>
              <a:rPr lang="zh-TW" altLang="en-US" dirty="0" smtClean="0"/>
              <a:t>訊號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461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T</a:t>
            </a:r>
            <a:r>
              <a:rPr lang="en-US" dirty="0" err="1" smtClean="0"/>
              <a:t>estbench</a:t>
            </a:r>
            <a:r>
              <a:rPr lang="zh-TW" altLang="en-US" dirty="0" smtClean="0"/>
              <a:t>分解</a:t>
            </a:r>
            <a:r>
              <a:rPr lang="en-US" dirty="0" smtClean="0"/>
              <a:t>部分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把待測</a:t>
            </a:r>
            <a:r>
              <a:rPr lang="zh-TW" altLang="en-US" dirty="0" smtClean="0"/>
              <a:t>試</a:t>
            </a:r>
            <a:r>
              <a:rPr lang="en-US" dirty="0" err="1" smtClean="0"/>
              <a:t>module的</a:t>
            </a:r>
            <a:r>
              <a:rPr lang="en-US" dirty="0" err="1"/>
              <a:t>input宣告成</a:t>
            </a:r>
            <a:r>
              <a:rPr lang="en-US" dirty="0" err="1" smtClean="0"/>
              <a:t>reg</a:t>
            </a:r>
            <a:r>
              <a:rPr lang="zh-TW" altLang="en-US" dirty="0" smtClean="0"/>
              <a:t>，</a:t>
            </a:r>
            <a:r>
              <a:rPr lang="en-US" dirty="0" smtClean="0"/>
              <a:t>output</a:t>
            </a:r>
            <a:r>
              <a:rPr lang="zh-TW" altLang="en-US" dirty="0" smtClean="0"/>
              <a:t>宣告</a:t>
            </a:r>
            <a:r>
              <a:rPr lang="en-US" dirty="0" err="1" smtClean="0"/>
              <a:t>成wire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插入待測</a:t>
            </a:r>
            <a:r>
              <a:rPr lang="en-US" dirty="0" err="1"/>
              <a:t>module接好線，然後</a:t>
            </a:r>
            <a:r>
              <a:rPr lang="en-US" dirty="0" err="1" smtClean="0"/>
              <a:t>clock</a:t>
            </a:r>
            <a:r>
              <a:rPr lang="zh-TW" altLang="en-US" dirty="0" smtClean="0"/>
              <a:t>訊號</a:t>
            </a:r>
            <a:r>
              <a:rPr lang="en-US" dirty="0" smtClean="0"/>
              <a:t>產</a:t>
            </a:r>
            <a:r>
              <a:rPr lang="zh-TW" altLang="en-US" dirty="0" smtClean="0"/>
              <a:t>（用</a:t>
            </a:r>
            <a:r>
              <a:rPr lang="en-US" altLang="zh-TW" dirty="0" smtClean="0"/>
              <a:t>always)</a:t>
            </a:r>
            <a:r>
              <a:rPr lang="en-US" dirty="0" smtClean="0"/>
              <a:t>，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一</a:t>
            </a:r>
            <a:r>
              <a:rPr lang="zh-TW" altLang="en-US" dirty="0" smtClean="0"/>
              <a:t>個</a:t>
            </a:r>
            <a:r>
              <a:rPr lang="en-US" dirty="0" err="1" smtClean="0"/>
              <a:t>initial用來給</a:t>
            </a:r>
            <a:r>
              <a:rPr lang="zh-TW" altLang="en-US" dirty="0" smtClean="0"/>
              <a:t>各樣訊號</a:t>
            </a:r>
            <a:endParaRPr lang="en-US" altLang="zh-TW" dirty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一</a:t>
            </a:r>
            <a:r>
              <a:rPr lang="zh-TW" altLang="en-US" dirty="0" smtClean="0"/>
              <a:t>個</a:t>
            </a:r>
            <a:r>
              <a:rPr lang="en-US" dirty="0" err="1" smtClean="0"/>
              <a:t>initial用來</a:t>
            </a:r>
            <a:r>
              <a:rPr lang="zh-TW" altLang="en-US" dirty="0" smtClean="0"/>
              <a:t>觀察訊號（</a:t>
            </a:r>
            <a:r>
              <a:rPr lang="en-US" altLang="zh-TW" dirty="0"/>
              <a:t> monitor(</a:t>
            </a:r>
            <a:r>
              <a:rPr lang="zh-TW" altLang="en-US" dirty="0" smtClean="0"/>
              <a:t>選擇性要看哪個訊號</a:t>
            </a:r>
            <a:r>
              <a:rPr lang="en-US" altLang="zh-TW" dirty="0" smtClean="0"/>
              <a:t>) </a:t>
            </a:r>
            <a:r>
              <a:rPr lang="zh-TW" altLang="en-US" dirty="0" smtClean="0"/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14159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87703"/>
            <a:ext cx="10515600" cy="1325563"/>
          </a:xfrm>
        </p:spPr>
        <p:txBody>
          <a:bodyPr/>
          <a:lstStyle/>
          <a:p>
            <a:r>
              <a:rPr lang="en-US" dirty="0"/>
              <a:t>always </a:t>
            </a:r>
            <a:r>
              <a:rPr lang="en-US" dirty="0" err="1"/>
              <a:t>產生clk</a:t>
            </a:r>
            <a:r>
              <a:rPr lang="en-US" dirty="0" err="1" smtClean="0"/>
              <a:t>怎麼寫</a:t>
            </a:r>
            <a:r>
              <a:rPr lang="zh-TW" altLang="en-US" dirty="0" smtClean="0"/>
              <a:t>？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020710" y="2727235"/>
            <a:ext cx="1003582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/>
              <a:t>always begin</a:t>
            </a:r>
          </a:p>
          <a:p>
            <a:r>
              <a:rPr lang="en-US" sz="3000" dirty="0"/>
              <a:t>		#</a:t>
            </a:r>
            <a:r>
              <a:rPr lang="en-US" sz="3000" dirty="0" smtClean="0"/>
              <a:t>5</a:t>
            </a:r>
            <a:r>
              <a:rPr lang="zh-TW" altLang="en-US" sz="3000" dirty="0" smtClean="0"/>
              <a:t> </a:t>
            </a:r>
            <a:r>
              <a:rPr lang="en-US" altLang="zh-TW" sz="3000" dirty="0" smtClean="0"/>
              <a:t>	//</a:t>
            </a:r>
            <a:r>
              <a:rPr lang="zh-TW" altLang="en-US" sz="3000" dirty="0" smtClean="0"/>
              <a:t>看你希望每個</a:t>
            </a:r>
            <a:r>
              <a:rPr lang="en-US" altLang="zh-TW" sz="3000" dirty="0" smtClean="0"/>
              <a:t>cycle</a:t>
            </a:r>
            <a:r>
              <a:rPr lang="zh-TW" altLang="en-US" sz="3000" dirty="0" smtClean="0"/>
              <a:t>間隔</a:t>
            </a:r>
            <a:r>
              <a:rPr lang="zh-TW" altLang="en-US" sz="3000" dirty="0"/>
              <a:t>多少時間</a:t>
            </a:r>
            <a:r>
              <a:rPr lang="zh-TW" altLang="en-US" sz="3000" dirty="0" smtClean="0"/>
              <a:t>單位</a:t>
            </a:r>
            <a:endParaRPr lang="en-US" sz="3000" dirty="0"/>
          </a:p>
          <a:p>
            <a:r>
              <a:rPr lang="en-US" sz="3000" dirty="0"/>
              <a:t>		</a:t>
            </a:r>
            <a:r>
              <a:rPr lang="en-US" sz="3000" dirty="0" err="1"/>
              <a:t>clk</a:t>
            </a:r>
            <a:r>
              <a:rPr lang="en-US" sz="3000" dirty="0"/>
              <a:t> = ~</a:t>
            </a:r>
            <a:r>
              <a:rPr lang="en-US" sz="3000" dirty="0" err="1"/>
              <a:t>clk</a:t>
            </a:r>
            <a:r>
              <a:rPr lang="en-US" sz="3000" dirty="0"/>
              <a:t> ;</a:t>
            </a:r>
          </a:p>
          <a:p>
            <a:r>
              <a:rPr lang="en-US" sz="3000" dirty="0" smtClean="0"/>
              <a:t>end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2027550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Initial</a:t>
            </a:r>
            <a:r>
              <a:rPr lang="zh-TW" altLang="en-US" dirty="0" smtClean="0"/>
              <a:t>介紹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8309" y="1996828"/>
            <a:ext cx="497840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000" dirty="0" smtClean="0">
                <a:latin typeface="Andale Mono" charset="0"/>
              </a:rPr>
              <a:t>語法：</a:t>
            </a:r>
            <a:endParaRPr lang="en-US" altLang="zh-TW" sz="3000" dirty="0" smtClean="0">
              <a:latin typeface="Andale Mono" charset="0"/>
            </a:endParaRPr>
          </a:p>
          <a:p>
            <a:r>
              <a:rPr lang="en-US" altLang="zh-TW" sz="3000" dirty="0" smtClean="0">
                <a:latin typeface="Andale Mono" charset="0"/>
              </a:rPr>
              <a:t>initial begin</a:t>
            </a:r>
          </a:p>
          <a:p>
            <a:r>
              <a:rPr lang="en-US" altLang="zh-TW" sz="3000" dirty="0" smtClean="0">
                <a:latin typeface="Andale Mono" charset="0"/>
              </a:rPr>
              <a:t> </a:t>
            </a:r>
          </a:p>
          <a:p>
            <a:r>
              <a:rPr lang="en-US" altLang="zh-TW" sz="3000" dirty="0" smtClean="0">
                <a:latin typeface="Andale Mono" charset="0"/>
              </a:rPr>
              <a:t>// </a:t>
            </a:r>
            <a:r>
              <a:rPr lang="zh-TW" altLang="en-US" sz="3000" dirty="0">
                <a:latin typeface="Andale Mono" charset="0"/>
              </a:rPr>
              <a:t>程式碼 </a:t>
            </a:r>
            <a:endParaRPr lang="en-US" altLang="zh-TW" sz="3000" dirty="0" smtClean="0">
              <a:latin typeface="Andale Mono" charset="0"/>
            </a:endParaRPr>
          </a:p>
          <a:p>
            <a:endParaRPr lang="en-US" altLang="zh-TW" sz="3000" dirty="0" smtClean="0">
              <a:latin typeface="Andale Mono" charset="0"/>
            </a:endParaRPr>
          </a:p>
          <a:p>
            <a:r>
              <a:rPr lang="en-US" altLang="zh-TW" sz="3000" dirty="0" smtClean="0">
                <a:latin typeface="Andale Mono" charset="0"/>
              </a:rPr>
              <a:t>end </a:t>
            </a:r>
            <a:endParaRPr lang="en-US" altLang="zh-TW" sz="3000" dirty="0">
              <a:latin typeface="Andale Mono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21955" y="2324240"/>
            <a:ext cx="69652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000" dirty="0" smtClean="0">
                <a:latin typeface="Arial" charset="0"/>
              </a:rPr>
              <a:t>功能：</a:t>
            </a:r>
            <a:endParaRPr lang="en-US" altLang="zh-TW" sz="3000" dirty="0" smtClean="0">
              <a:latin typeface="Arial" charset="0"/>
            </a:endParaRPr>
          </a:p>
          <a:p>
            <a:r>
              <a:rPr lang="en-US" altLang="zh-TW" sz="3000" dirty="0" smtClean="0">
                <a:latin typeface="Arial" charset="0"/>
              </a:rPr>
              <a:t>1</a:t>
            </a:r>
            <a:r>
              <a:rPr lang="en-US" altLang="zh-TW" sz="3000" dirty="0">
                <a:latin typeface="Arial" charset="0"/>
              </a:rPr>
              <a:t>. </a:t>
            </a:r>
            <a:r>
              <a:rPr lang="zh-TW" altLang="en-US" sz="3000" dirty="0">
                <a:latin typeface="Arial" charset="0"/>
              </a:rPr>
              <a:t>當</a:t>
            </a:r>
            <a:r>
              <a:rPr lang="zh-TW" altLang="en-US" sz="3000" dirty="0" smtClean="0">
                <a:latin typeface="Arial" charset="0"/>
              </a:rPr>
              <a:t>模擬開始時就會</a:t>
            </a:r>
            <a:r>
              <a:rPr lang="zh-TW" altLang="en-US" sz="3000" dirty="0">
                <a:latin typeface="Arial" charset="0"/>
              </a:rPr>
              <a:t>被</a:t>
            </a:r>
            <a:r>
              <a:rPr lang="zh-TW" altLang="en-US" sz="3000" dirty="0" smtClean="0">
                <a:latin typeface="Arial" charset="0"/>
              </a:rPr>
              <a:t>執行，且是一行一行執行</a:t>
            </a:r>
            <a:r>
              <a:rPr lang="zh-TW" altLang="en-US" sz="3000" dirty="0">
                <a:latin typeface="Arial" charset="0"/>
              </a:rPr>
              <a:t/>
            </a:r>
            <a:br>
              <a:rPr lang="zh-TW" altLang="en-US" sz="3000" dirty="0">
                <a:latin typeface="Arial" charset="0"/>
              </a:rPr>
            </a:br>
            <a:r>
              <a:rPr lang="en-US" altLang="zh-TW" sz="3000" dirty="0">
                <a:latin typeface="Arial" charset="0"/>
              </a:rPr>
              <a:t>2. </a:t>
            </a:r>
            <a:r>
              <a:rPr lang="zh-TW" altLang="en-US" sz="3000" dirty="0" smtClean="0">
                <a:latin typeface="Arial" charset="0"/>
              </a:rPr>
              <a:t>執行</a:t>
            </a:r>
            <a:r>
              <a:rPr lang="zh-TW" altLang="en-US" sz="3000" dirty="0">
                <a:latin typeface="Arial" charset="0"/>
              </a:rPr>
              <a:t>到 </a:t>
            </a:r>
            <a:r>
              <a:rPr lang="en-US" altLang="zh-TW" sz="3000" dirty="0">
                <a:latin typeface="Arial" charset="0"/>
              </a:rPr>
              <a:t>end </a:t>
            </a:r>
            <a:r>
              <a:rPr lang="zh-TW" altLang="en-US" sz="3000" dirty="0">
                <a:latin typeface="Arial" charset="0"/>
              </a:rPr>
              <a:t>就會結束</a:t>
            </a:r>
            <a:br>
              <a:rPr lang="zh-TW" altLang="en-US" sz="3000" dirty="0">
                <a:latin typeface="Arial" charset="0"/>
              </a:rPr>
            </a:br>
            <a:r>
              <a:rPr lang="en-US" altLang="zh-TW" sz="3000" dirty="0">
                <a:latin typeface="Arial" charset="0"/>
              </a:rPr>
              <a:t>3. </a:t>
            </a:r>
            <a:r>
              <a:rPr lang="zh-TW" altLang="en-US" sz="3000" dirty="0">
                <a:latin typeface="Arial" charset="0"/>
              </a:rPr>
              <a:t>安排在特定時間執行</a:t>
            </a:r>
            <a:r>
              <a:rPr lang="zh-TW" altLang="en-US" sz="3000" dirty="0" smtClean="0">
                <a:latin typeface="Arial" charset="0"/>
              </a:rPr>
              <a:t>可以用</a:t>
            </a:r>
            <a:r>
              <a:rPr lang="zh-TW" altLang="en-US" sz="3000" dirty="0">
                <a:latin typeface="Arial" charset="0"/>
              </a:rPr>
              <a:t>延遲</a:t>
            </a:r>
            <a:br>
              <a:rPr lang="zh-TW" altLang="en-US" sz="3000" dirty="0">
                <a:latin typeface="Arial" charset="0"/>
              </a:rPr>
            </a:br>
            <a:r>
              <a:rPr lang="en-US" altLang="zh-TW" sz="3000" dirty="0">
                <a:latin typeface="Arial" charset="0"/>
              </a:rPr>
              <a:t>4. </a:t>
            </a:r>
            <a:r>
              <a:rPr lang="zh-TW" altLang="en-US" sz="3000" dirty="0">
                <a:latin typeface="Arial" charset="0"/>
              </a:rPr>
              <a:t>通常用在 </a:t>
            </a:r>
            <a:r>
              <a:rPr lang="en-US" altLang="zh-TW" sz="3000" dirty="0">
                <a:latin typeface="Arial" charset="0"/>
              </a:rPr>
              <a:t>test bench </a:t>
            </a:r>
            <a:r>
              <a:rPr lang="zh-TW" altLang="en-US" sz="3000" dirty="0">
                <a:latin typeface="Arial" charset="0"/>
              </a:rPr>
              <a:t>當中。</a:t>
            </a:r>
          </a:p>
        </p:txBody>
      </p:sp>
    </p:spTree>
    <p:extLst>
      <p:ext uri="{BB962C8B-B14F-4D97-AF65-F5344CB8AC3E}">
        <p14:creationId xmlns:p14="http://schemas.microsoft.com/office/powerpoint/2010/main" val="479374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</a:t>
            </a:r>
            <a:r>
              <a:rPr lang="en-US" dirty="0" smtClean="0"/>
              <a:t>怎麼寫</a:t>
            </a:r>
            <a:r>
              <a:rPr lang="zh-TW" altLang="en-US" dirty="0" smtClean="0"/>
              <a:t>？</a:t>
            </a:r>
            <a:r>
              <a:rPr lang="en-US" altLang="zh-TW" dirty="0" smtClean="0"/>
              <a:t>part1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93512" y="1443672"/>
            <a:ext cx="10826044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smtClean="0">
                <a:latin typeface="Andale Mono" charset="0"/>
              </a:rPr>
              <a:t>initial begin</a:t>
            </a:r>
          </a:p>
          <a:p>
            <a:r>
              <a:rPr lang="en-US" altLang="zh-TW" sz="2000" dirty="0" smtClean="0">
                <a:latin typeface="Andale Mono" charset="0"/>
              </a:rPr>
              <a:t> 		//</a:t>
            </a:r>
            <a:r>
              <a:rPr lang="zh-TW" altLang="en-US" sz="2000" dirty="0" smtClean="0">
                <a:latin typeface="Andale Mono" charset="0"/>
              </a:rPr>
              <a:t>設定輸入初始值</a:t>
            </a:r>
            <a:endParaRPr lang="en-US" altLang="zh-TW" sz="2000" dirty="0" smtClean="0">
              <a:latin typeface="Andale Mono" charset="0"/>
            </a:endParaRPr>
          </a:p>
          <a:p>
            <a:r>
              <a:rPr lang="en-US" sz="2000" dirty="0">
                <a:latin typeface="Andale Mono" charset="0"/>
                <a:ea typeface="Calibri" charset="0"/>
                <a:cs typeface="Times New Roman" charset="0"/>
              </a:rPr>
              <a:t>	</a:t>
            </a:r>
            <a:r>
              <a:rPr lang="en-US" sz="2000" dirty="0" smtClean="0">
                <a:latin typeface="Andale Mono" charset="0"/>
                <a:ea typeface="Calibri" charset="0"/>
                <a:cs typeface="Times New Roman" charset="0"/>
              </a:rPr>
              <a:t>	</a:t>
            </a:r>
            <a:r>
              <a:rPr lang="en-US" sz="2000" dirty="0" err="1" smtClean="0">
                <a:latin typeface="Calibri" charset="0"/>
                <a:ea typeface="Calibri" charset="0"/>
                <a:cs typeface="Times New Roman" charset="0"/>
              </a:rPr>
              <a:t>clk</a:t>
            </a:r>
            <a:r>
              <a:rPr lang="en-US" sz="2000" dirty="0" smtClean="0">
                <a:latin typeface="Calibri" charset="0"/>
                <a:ea typeface="Calibri" charset="0"/>
                <a:cs typeface="Times New Roman" charset="0"/>
              </a:rPr>
              <a:t> 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= 0 ;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rst_n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 = 0 ;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altLang="zh-TW" sz="2000" dirty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sz="2000" dirty="0" smtClean="0">
                <a:latin typeface="Calibri" charset="0"/>
                <a:ea typeface="Calibri" charset="0"/>
                <a:cs typeface="Times New Roman" charset="0"/>
              </a:rPr>
              <a:t>=0;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altLang="zh-TW" sz="2000" dirty="0" smtClean="0">
                <a:latin typeface="Calibri" charset="0"/>
                <a:ea typeface="Calibri" charset="0"/>
                <a:cs typeface="Times New Roman" charset="0"/>
              </a:rPr>
              <a:t>//</a:t>
            </a:r>
            <a:r>
              <a:rPr lang="zh-TW" altLang="en-US" sz="2000" dirty="0" smtClean="0">
                <a:latin typeface="Calibri" charset="0"/>
                <a:ea typeface="Calibri" charset="0"/>
                <a:cs typeface="Times New Roman" charset="0"/>
              </a:rPr>
              <a:t>透過延遲，來間個開每一種測試狀況</a:t>
            </a:r>
            <a:endParaRPr lang="en-US" sz="2000" dirty="0">
              <a:latin typeface="Calibri" charset="0"/>
              <a:ea typeface="Calibri" charset="0"/>
              <a:cs typeface="Times New Roman" charset="0"/>
            </a:endParaRP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#10 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rst_n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 = 1 ;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	if (g1==1&amp;&amp;g2==0&amp;&amp;y1==0&amp;&amp;y2==0&amp;&amp;r1==0&amp;&amp;r2==1)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sz="2000" dirty="0" smtClean="0">
                <a:latin typeface="Calibri" charset="0"/>
                <a:ea typeface="Calibri" charset="0"/>
                <a:cs typeface="Times New Roman" charset="0"/>
              </a:rPr>
              <a:t>pass=</a:t>
            </a:r>
            <a:r>
              <a:rPr lang="en-US" altLang="zh-TW" sz="2000" dirty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sz="2000" dirty="0" smtClean="0">
                <a:latin typeface="Calibri" charset="0"/>
                <a:ea typeface="Calibri" charset="0"/>
                <a:cs typeface="Times New Roman" charset="0"/>
              </a:rPr>
              <a:t>+1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	if (g1==1&amp;&amp;g2==0&amp;&amp;y1==0&amp;&amp;y2==0&amp;&amp;r1==0&amp;&amp;r2==1)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altLang="zh-TW" sz="2000" dirty="0" smtClean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sz="2000" dirty="0" smtClean="0">
                <a:latin typeface="Calibri" charset="0"/>
                <a:ea typeface="Calibri" charset="0"/>
                <a:cs typeface="Times New Roman" charset="0"/>
              </a:rPr>
              <a:t>=</a:t>
            </a:r>
            <a:r>
              <a:rPr lang="en-US" altLang="zh-TW" sz="2000" dirty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sz="2000" dirty="0" smtClean="0">
                <a:latin typeface="Calibri" charset="0"/>
                <a:ea typeface="Calibri" charset="0"/>
                <a:cs typeface="Times New Roman" charset="0"/>
              </a:rPr>
              <a:t>+1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endParaRPr lang="en-US" altLang="zh-TW" sz="2000" dirty="0" smtClean="0">
              <a:latin typeface="Andale Mono" charset="0"/>
            </a:endParaRPr>
          </a:p>
          <a:p>
            <a:endParaRPr lang="en-US" altLang="zh-TW" sz="2000" dirty="0">
              <a:latin typeface="Andale Mono" charset="0"/>
            </a:endParaRPr>
          </a:p>
          <a:p>
            <a:endParaRPr lang="en-US" altLang="zh-TW" sz="2000" dirty="0" smtClean="0">
              <a:latin typeface="Andale Mono" charset="0"/>
            </a:endParaRPr>
          </a:p>
          <a:p>
            <a:r>
              <a:rPr lang="en-US" altLang="zh-TW" sz="2000" dirty="0" smtClean="0">
                <a:latin typeface="Andale Mono" charset="0"/>
              </a:rPr>
              <a:t>end </a:t>
            </a:r>
            <a:endParaRPr lang="en-US" altLang="zh-TW" sz="2000" dirty="0">
              <a:latin typeface="Andale Mon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314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 怎麼寫</a:t>
            </a:r>
            <a:r>
              <a:rPr lang="zh-TW" altLang="en-US" dirty="0"/>
              <a:t>？</a:t>
            </a:r>
            <a:r>
              <a:rPr lang="en-US" altLang="zh-TW" dirty="0" smtClean="0"/>
              <a:t>part2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9144" y="2009970"/>
            <a:ext cx="1205371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500" dirty="0">
                <a:latin typeface="Calibri" charset="0"/>
                <a:ea typeface="Calibri" charset="0"/>
                <a:cs typeface="Times New Roman" charset="0"/>
              </a:rPr>
              <a:t>initial begin</a:t>
            </a:r>
          </a:p>
          <a:p>
            <a:r>
              <a:rPr lang="en-US" sz="2500" dirty="0">
                <a:latin typeface="Calibri" charset="0"/>
                <a:ea typeface="Calibri" charset="0"/>
                <a:cs typeface="Times New Roman" charset="0"/>
              </a:rPr>
              <a:t>		$monitor ( "time=%4d, </a:t>
            </a:r>
            <a:r>
              <a:rPr lang="en-US" sz="2500" dirty="0" err="1">
                <a:latin typeface="Calibri" charset="0"/>
                <a:ea typeface="Calibri" charset="0"/>
                <a:cs typeface="Times New Roman" charset="0"/>
              </a:rPr>
              <a:t>clk</a:t>
            </a:r>
            <a:r>
              <a:rPr lang="en-US" sz="2500" dirty="0">
                <a:latin typeface="Calibri" charset="0"/>
                <a:ea typeface="Calibri" charset="0"/>
                <a:cs typeface="Times New Roman" charset="0"/>
              </a:rPr>
              <a:t>=%b, </a:t>
            </a:r>
            <a:r>
              <a:rPr lang="en-US" sz="2500" dirty="0" err="1">
                <a:latin typeface="Calibri" charset="0"/>
                <a:ea typeface="Calibri" charset="0"/>
                <a:cs typeface="Times New Roman" charset="0"/>
              </a:rPr>
              <a:t>rst_n</a:t>
            </a:r>
            <a:r>
              <a:rPr lang="en-US" sz="2500" dirty="0">
                <a:latin typeface="Calibri" charset="0"/>
                <a:ea typeface="Calibri" charset="0"/>
                <a:cs typeface="Times New Roman" charset="0"/>
              </a:rPr>
              <a:t>=%b, r1=%b, g1=%b, y1=%b, r2=%b, g2=%b, y2=%</a:t>
            </a:r>
            <a:r>
              <a:rPr lang="en-US" sz="2500" dirty="0" err="1">
                <a:latin typeface="Calibri" charset="0"/>
                <a:ea typeface="Calibri" charset="0"/>
                <a:cs typeface="Times New Roman" charset="0"/>
              </a:rPr>
              <a:t>b</a:t>
            </a:r>
            <a:r>
              <a:rPr lang="en-US" sz="2500" dirty="0" err="1" smtClean="0">
                <a:latin typeface="Calibri" charset="0"/>
                <a:ea typeface="Calibri" charset="0"/>
                <a:cs typeface="Times New Roman" charset="0"/>
              </a:rPr>
              <a:t>",$</a:t>
            </a:r>
            <a:r>
              <a:rPr lang="en-US" sz="2500" dirty="0" err="1">
                <a:latin typeface="Calibri" charset="0"/>
                <a:ea typeface="Calibri" charset="0"/>
                <a:cs typeface="Times New Roman" charset="0"/>
              </a:rPr>
              <a:t>time</a:t>
            </a:r>
            <a:r>
              <a:rPr lang="en-US" sz="2500" dirty="0">
                <a:latin typeface="Calibri" charset="0"/>
                <a:ea typeface="Calibri" charset="0"/>
                <a:cs typeface="Times New Roman" charset="0"/>
              </a:rPr>
              <a:t>, </a:t>
            </a:r>
            <a:r>
              <a:rPr lang="en-US" sz="2500" dirty="0" err="1">
                <a:latin typeface="Calibri" charset="0"/>
                <a:ea typeface="Calibri" charset="0"/>
                <a:cs typeface="Times New Roman" charset="0"/>
              </a:rPr>
              <a:t>clk</a:t>
            </a:r>
            <a:r>
              <a:rPr lang="en-US" sz="2500" dirty="0">
                <a:latin typeface="Calibri" charset="0"/>
                <a:ea typeface="Calibri" charset="0"/>
                <a:cs typeface="Times New Roman" charset="0"/>
              </a:rPr>
              <a:t>, </a:t>
            </a:r>
            <a:r>
              <a:rPr lang="en-US" sz="2500" dirty="0" err="1">
                <a:latin typeface="Calibri" charset="0"/>
                <a:ea typeface="Calibri" charset="0"/>
                <a:cs typeface="Times New Roman" charset="0"/>
              </a:rPr>
              <a:t>rst_n</a:t>
            </a:r>
            <a:r>
              <a:rPr lang="en-US" sz="2500" dirty="0">
                <a:latin typeface="Calibri" charset="0"/>
                <a:ea typeface="Calibri" charset="0"/>
                <a:cs typeface="Times New Roman" charset="0"/>
              </a:rPr>
              <a:t>, r1, g1, y1, r2, g2, y2 ) ;</a:t>
            </a:r>
          </a:p>
          <a:p>
            <a:r>
              <a:rPr lang="en-US" sz="2500" dirty="0">
                <a:latin typeface="Calibri" charset="0"/>
                <a:ea typeface="Calibri" charset="0"/>
                <a:cs typeface="Times New Roman" charset="0"/>
              </a:rPr>
              <a:t>	end	</a:t>
            </a:r>
          </a:p>
        </p:txBody>
      </p:sp>
      <p:sp>
        <p:nvSpPr>
          <p:cNvPr id="5" name="Rectangle 4"/>
          <p:cNvSpPr/>
          <p:nvPr/>
        </p:nvSpPr>
        <p:spPr>
          <a:xfrm>
            <a:off x="412043" y="4386702"/>
            <a:ext cx="11367911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500" dirty="0"/>
              <a:t>$display()</a:t>
            </a:r>
            <a:r>
              <a:rPr lang="zh-TW" altLang="en-US" sz="2500" dirty="0">
                <a:latin typeface="Tahoma" charset="0"/>
              </a:rPr>
              <a:t> 與 </a:t>
            </a:r>
            <a:r>
              <a:rPr lang="en-US" altLang="zh-TW" sz="2500" dirty="0"/>
              <a:t>$monitor()</a:t>
            </a:r>
            <a:r>
              <a:rPr lang="zh-TW" altLang="en-US" sz="2500" dirty="0">
                <a:latin typeface="Tahoma" charset="0"/>
              </a:rPr>
              <a:t> 的</a:t>
            </a:r>
            <a:r>
              <a:rPr lang="zh-TW" altLang="en-US" sz="2500" dirty="0" smtClean="0">
                <a:latin typeface="Tahoma" charset="0"/>
              </a:rPr>
              <a:t>語法上幾乎</a:t>
            </a:r>
            <a:r>
              <a:rPr lang="zh-TW" altLang="en-US" sz="2500" dirty="0">
                <a:latin typeface="Tahoma" charset="0"/>
              </a:rPr>
              <a:t>一模一樣</a:t>
            </a:r>
            <a:r>
              <a:rPr lang="zh-TW" altLang="en-US" sz="2500" dirty="0" smtClean="0">
                <a:latin typeface="Tahoma" charset="0"/>
              </a:rPr>
              <a:t>，但是：</a:t>
            </a:r>
            <a:endParaRPr lang="en-US" altLang="zh-TW" sz="2500" dirty="0" smtClean="0">
              <a:latin typeface="Tahoma" charset="0"/>
            </a:endParaRPr>
          </a:p>
          <a:p>
            <a:r>
              <a:rPr lang="en-US" altLang="zh-TW" sz="2500" dirty="0">
                <a:latin typeface="Tahoma" charset="0"/>
              </a:rPr>
              <a:t>	</a:t>
            </a:r>
            <a:r>
              <a:rPr lang="en-US" altLang="zh-TW" sz="2500" dirty="0" smtClean="0"/>
              <a:t>$</a:t>
            </a:r>
            <a:r>
              <a:rPr lang="en-US" altLang="zh-TW" sz="2500" dirty="0"/>
              <a:t>display()</a:t>
            </a:r>
            <a:r>
              <a:rPr lang="zh-TW" altLang="en-US" sz="2500" dirty="0">
                <a:latin typeface="Tahoma" charset="0"/>
              </a:rPr>
              <a:t> 是</a:t>
            </a:r>
            <a:r>
              <a:rPr lang="zh-TW" altLang="en-US" sz="2500" dirty="0" smtClean="0">
                <a:latin typeface="Tahoma" charset="0"/>
              </a:rPr>
              <a:t>顯示被執行的瞬間該時間</a:t>
            </a:r>
            <a:r>
              <a:rPr lang="zh-TW" altLang="en-US" sz="2500" dirty="0">
                <a:latin typeface="Tahoma" charset="0"/>
              </a:rPr>
              <a:t>點的變數</a:t>
            </a:r>
            <a:r>
              <a:rPr lang="zh-TW" altLang="en-US" sz="2500" dirty="0" smtClean="0">
                <a:latin typeface="Tahoma" charset="0"/>
              </a:rPr>
              <a:t>內容</a:t>
            </a:r>
            <a:endParaRPr lang="en-US" altLang="zh-TW" sz="2500" dirty="0">
              <a:latin typeface="Tahoma" charset="0"/>
            </a:endParaRPr>
          </a:p>
          <a:p>
            <a:r>
              <a:rPr lang="en-US" altLang="zh-TW" sz="2500" dirty="0" smtClean="0">
                <a:latin typeface="Tahoma" charset="0"/>
              </a:rPr>
              <a:t>	</a:t>
            </a:r>
            <a:r>
              <a:rPr lang="en-US" altLang="zh-TW" sz="2500" dirty="0" smtClean="0">
                <a:solidFill>
                  <a:srgbClr val="FF0000"/>
                </a:solidFill>
              </a:rPr>
              <a:t>$</a:t>
            </a:r>
            <a:r>
              <a:rPr lang="en-US" altLang="zh-TW" sz="2500" dirty="0">
                <a:solidFill>
                  <a:srgbClr val="FF0000"/>
                </a:solidFill>
              </a:rPr>
              <a:t>monitor()</a:t>
            </a:r>
            <a:r>
              <a:rPr lang="zh-TW" altLang="en-US" sz="2500" dirty="0">
                <a:solidFill>
                  <a:srgbClr val="FF0000"/>
                </a:solidFill>
                <a:latin typeface="Tahoma" charset="0"/>
              </a:rPr>
              <a:t> </a:t>
            </a:r>
            <a:r>
              <a:rPr lang="zh-TW" altLang="en-US" sz="2500" dirty="0" smtClean="0">
                <a:solidFill>
                  <a:srgbClr val="FF0000"/>
                </a:solidFill>
                <a:latin typeface="Tahoma" charset="0"/>
              </a:rPr>
              <a:t>則要放在</a:t>
            </a:r>
            <a:r>
              <a:rPr lang="en-US" altLang="zh-TW" sz="2500" dirty="0" smtClean="0">
                <a:solidFill>
                  <a:srgbClr val="FF0000"/>
                </a:solidFill>
                <a:latin typeface="Tahoma" charset="0"/>
              </a:rPr>
              <a:t>initial</a:t>
            </a:r>
            <a:r>
              <a:rPr lang="zh-TW" altLang="en-US" sz="2500" dirty="0" smtClean="0">
                <a:solidFill>
                  <a:srgbClr val="FF0000"/>
                </a:solidFill>
                <a:latin typeface="Tahoma" charset="0"/>
              </a:rPr>
              <a:t>裡面，會</a:t>
            </a:r>
            <a:r>
              <a:rPr lang="zh-TW" altLang="en-US" sz="2500" dirty="0">
                <a:solidFill>
                  <a:srgbClr val="FF0000"/>
                </a:solidFill>
                <a:latin typeface="Tahoma" charset="0"/>
              </a:rPr>
              <a:t>在受觀察的變數有改變時</a:t>
            </a:r>
            <a:r>
              <a:rPr lang="zh-TW" altLang="en-US" sz="2500" dirty="0" smtClean="0">
                <a:solidFill>
                  <a:srgbClr val="FF0000"/>
                </a:solidFill>
                <a:latin typeface="Tahoma" charset="0"/>
              </a:rPr>
              <a:t>就列印觀察變</a:t>
            </a:r>
            <a:r>
              <a:rPr lang="en-US" altLang="zh-TW" sz="2500" dirty="0" smtClean="0">
                <a:solidFill>
                  <a:srgbClr val="FF0000"/>
                </a:solidFill>
                <a:latin typeface="Tahoma" charset="0"/>
              </a:rPr>
              <a:t>		</a:t>
            </a:r>
            <a:r>
              <a:rPr lang="zh-TW" altLang="en-US" sz="2500" dirty="0" smtClean="0">
                <a:solidFill>
                  <a:srgbClr val="FF0000"/>
                </a:solidFill>
                <a:latin typeface="Tahoma" charset="0"/>
              </a:rPr>
              <a:t>數的內容</a:t>
            </a:r>
            <a:r>
              <a:rPr lang="zh-TW" altLang="en-US" sz="2500" dirty="0">
                <a:latin typeface="Tahoma" charset="0"/>
              </a:rPr>
              <a:t>，兩者的的</a:t>
            </a:r>
            <a:r>
              <a:rPr lang="zh-TW" altLang="en-US" sz="2500" dirty="0" smtClean="0">
                <a:latin typeface="Tahoma" charset="0"/>
              </a:rPr>
              <a:t>功能上有</a:t>
            </a:r>
            <a:r>
              <a:rPr lang="zh-TW" altLang="en-US" sz="2500" dirty="0">
                <a:latin typeface="Tahoma" charset="0"/>
              </a:rPr>
              <a:t>明顯的差異</a:t>
            </a:r>
            <a:r>
              <a:rPr lang="en-US" altLang="zh-TW" sz="2500" dirty="0">
                <a:latin typeface="Tahoma" charset="0"/>
              </a:rPr>
              <a:t>)</a:t>
            </a:r>
            <a:r>
              <a:rPr lang="zh-TW" altLang="en-US" sz="2500" dirty="0">
                <a:latin typeface="Tahoma" charset="0"/>
              </a:rPr>
              <a:t>。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1131791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如何讓</a:t>
            </a:r>
            <a:r>
              <a:rPr lang="en-US" altLang="zh-TW" dirty="0" err="1" smtClean="0"/>
              <a:t>testbench</a:t>
            </a:r>
            <a:r>
              <a:rPr lang="zh-TW" altLang="en-US" dirty="0" smtClean="0"/>
              <a:t>結束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/>
              <a:t>用</a:t>
            </a:r>
            <a:r>
              <a:rPr lang="en-US" altLang="zh-CN" dirty="0"/>
              <a:t>$finish </a:t>
            </a:r>
            <a:r>
              <a:rPr lang="zh-TW" altLang="en-US" dirty="0" smtClean="0"/>
              <a:t>告訴程式執行結束</a:t>
            </a:r>
            <a:endParaRPr lang="en-US" altLang="zh-CN" dirty="0" smtClean="0"/>
          </a:p>
          <a:p>
            <a:r>
              <a:rPr lang="en-US" altLang="zh-CN" dirty="0" smtClean="0">
                <a:latin typeface="+mn-ea"/>
              </a:rPr>
              <a:t>$finish </a:t>
            </a:r>
            <a:r>
              <a:rPr lang="zh-CN" altLang="en-US" dirty="0" smtClean="0">
                <a:latin typeface="+mn-ea"/>
              </a:rPr>
              <a:t>是</a:t>
            </a:r>
            <a:r>
              <a:rPr lang="zh-TW" altLang="en-US" dirty="0" smtClean="0">
                <a:latin typeface="+mn-ea"/>
              </a:rPr>
              <a:t>仿真</a:t>
            </a:r>
            <a:r>
              <a:rPr lang="zh-CN" altLang="en-US" dirty="0" smtClean="0">
                <a:latin typeface="+mn-ea"/>
              </a:rPr>
              <a:t>结束</a:t>
            </a:r>
            <a:r>
              <a:rPr lang="zh-CN" altLang="en-US" dirty="0">
                <a:latin typeface="+mn-ea"/>
              </a:rPr>
              <a:t>后退出仿真</a:t>
            </a:r>
            <a:r>
              <a:rPr lang="zh-CN" altLang="en-US" dirty="0" smtClean="0">
                <a:latin typeface="+mn-ea"/>
              </a:rPr>
              <a:t>（</a:t>
            </a:r>
            <a:r>
              <a:rPr lang="zh-TW" altLang="en-US" dirty="0" smtClean="0">
                <a:latin typeface="+mn-ea"/>
              </a:rPr>
              <a:t>撤</a:t>
            </a:r>
            <a:r>
              <a:rPr lang="zh-CN" altLang="en-US" dirty="0" smtClean="0">
                <a:latin typeface="+mn-ea"/>
              </a:rPr>
              <a:t>底</a:t>
            </a:r>
            <a:r>
              <a:rPr lang="zh-CN" altLang="en-US" dirty="0">
                <a:latin typeface="+mn-ea"/>
              </a:rPr>
              <a:t>的退出</a:t>
            </a:r>
            <a:r>
              <a:rPr lang="zh-CN" altLang="en-US" dirty="0" smtClean="0">
                <a:latin typeface="+mn-ea"/>
              </a:rPr>
              <a:t>）</a:t>
            </a:r>
            <a:endParaRPr lang="en-US" altLang="zh-CN" dirty="0" smtClean="0">
              <a:latin typeface="+mn-ea"/>
            </a:endParaRPr>
          </a:p>
          <a:p>
            <a:endParaRPr lang="en-US" altLang="zh-TW" dirty="0" smtClean="0">
              <a:latin typeface="+mn-ea"/>
            </a:endParaRPr>
          </a:p>
          <a:p>
            <a:pPr marL="0" indent="0">
              <a:buNone/>
            </a:pPr>
            <a:r>
              <a:rPr lang="zh-TW" altLang="en-US" dirty="0" smtClean="0">
                <a:latin typeface="+mn-ea"/>
              </a:rPr>
              <a:t>語法：</a:t>
            </a:r>
            <a:endParaRPr lang="en-US" altLang="zh-TW" dirty="0">
              <a:latin typeface="+mn-ea"/>
            </a:endParaRPr>
          </a:p>
          <a:p>
            <a:pPr marL="0" indent="0">
              <a:buNone/>
            </a:pPr>
            <a:r>
              <a:rPr lang="en-US" altLang="zh-TW" sz="2500" dirty="0" smtClean="0">
                <a:latin typeface="+mn-ea"/>
              </a:rPr>
              <a:t>initial begin</a:t>
            </a:r>
          </a:p>
          <a:p>
            <a:pPr marL="0" indent="0">
              <a:buNone/>
            </a:pPr>
            <a:endParaRPr lang="en-US" sz="2500" dirty="0" smtClean="0">
              <a:latin typeface="+mn-ea"/>
            </a:endParaRPr>
          </a:p>
          <a:p>
            <a:pPr marL="0" indent="0">
              <a:buNone/>
            </a:pPr>
            <a:r>
              <a:rPr lang="en-US" sz="2500" dirty="0" smtClean="0">
                <a:latin typeface="+mn-ea"/>
              </a:rPr>
              <a:t>//your code</a:t>
            </a:r>
          </a:p>
          <a:p>
            <a:pPr marL="0" indent="0">
              <a:buNone/>
            </a:pPr>
            <a:r>
              <a:rPr lang="en-US" altLang="zh-CN" sz="2500" dirty="0">
                <a:latin typeface="+mn-ea"/>
              </a:rPr>
              <a:t>$finish</a:t>
            </a:r>
            <a:endParaRPr lang="en-US" sz="2500" dirty="0">
              <a:latin typeface="+mn-ea"/>
            </a:endParaRPr>
          </a:p>
          <a:p>
            <a:pPr marL="0" indent="0">
              <a:buNone/>
            </a:pPr>
            <a:r>
              <a:rPr lang="en-US" sz="2500" dirty="0" smtClean="0">
                <a:latin typeface="+mn-ea"/>
              </a:rPr>
              <a:t>end</a:t>
            </a:r>
            <a:endParaRPr lang="en-US" sz="25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73114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範例</a:t>
            </a:r>
            <a:r>
              <a:rPr lang="en-US" altLang="zh-TW" dirty="0"/>
              <a:t>-</a:t>
            </a:r>
            <a:r>
              <a:rPr lang="en-US" altLang="zh-TW" dirty="0" smtClean="0"/>
              <a:t>Lab4_</a:t>
            </a:r>
            <a:r>
              <a:rPr lang="zh-TW" altLang="en-US" dirty="0" smtClean="0"/>
              <a:t>框架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74043" y="2247880"/>
            <a:ext cx="1017975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dirty="0"/>
              <a:t>module </a:t>
            </a:r>
            <a:r>
              <a:rPr lang="en-US" sz="3000" dirty="0" err="1"/>
              <a:t>traffic_light</a:t>
            </a:r>
            <a:r>
              <a:rPr lang="en-US" sz="3000" dirty="0"/>
              <a:t>( </a:t>
            </a:r>
            <a:r>
              <a:rPr lang="en-US" sz="3000" dirty="0" err="1"/>
              <a:t>clk</a:t>
            </a:r>
            <a:r>
              <a:rPr lang="en-US" sz="3000" dirty="0"/>
              <a:t>, </a:t>
            </a:r>
            <a:r>
              <a:rPr lang="en-US" sz="3000" dirty="0" err="1"/>
              <a:t>rst_n</a:t>
            </a:r>
            <a:r>
              <a:rPr lang="en-US" sz="3000" dirty="0"/>
              <a:t>, g1, y1, r1, g2, y2, r2) </a:t>
            </a:r>
            <a:r>
              <a:rPr lang="en-US" sz="3000" dirty="0" smtClean="0"/>
              <a:t>;</a:t>
            </a:r>
          </a:p>
          <a:p>
            <a:r>
              <a:rPr lang="en-US" sz="3000" dirty="0" smtClean="0"/>
              <a:t>input </a:t>
            </a:r>
            <a:r>
              <a:rPr lang="en-US" sz="3000" dirty="0" err="1"/>
              <a:t>clk</a:t>
            </a:r>
            <a:r>
              <a:rPr lang="en-US" sz="3000" dirty="0"/>
              <a:t>, </a:t>
            </a:r>
            <a:r>
              <a:rPr lang="en-US" sz="3000" dirty="0" err="1"/>
              <a:t>rst_n</a:t>
            </a:r>
            <a:r>
              <a:rPr lang="en-US" sz="3000" dirty="0" smtClean="0"/>
              <a:t>;</a:t>
            </a:r>
          </a:p>
          <a:p>
            <a:r>
              <a:rPr lang="en-US" sz="3000" dirty="0" smtClean="0"/>
              <a:t>output </a:t>
            </a:r>
            <a:r>
              <a:rPr lang="en-US" sz="3000" dirty="0"/>
              <a:t>g1, y1, r1, g2, y2, r2</a:t>
            </a:r>
            <a:r>
              <a:rPr lang="en-US" sz="3000" dirty="0" smtClean="0"/>
              <a:t>;</a:t>
            </a:r>
          </a:p>
          <a:p>
            <a:endParaRPr lang="en-US" sz="3000" dirty="0"/>
          </a:p>
          <a:p>
            <a:endParaRPr lang="en-US" sz="3000" dirty="0" smtClean="0"/>
          </a:p>
          <a:p>
            <a:r>
              <a:rPr lang="en-US" altLang="zh-TW" sz="3000" dirty="0" err="1" smtClean="0"/>
              <a:t>endmodule</a:t>
            </a: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419835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範例</a:t>
            </a:r>
            <a:r>
              <a:rPr lang="en-US" altLang="zh-TW" dirty="0" smtClean="0"/>
              <a:t>-Lab4_testbench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836914"/>
            <a:ext cx="113538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module </a:t>
            </a:r>
            <a:r>
              <a:rPr lang="en-US" dirty="0" err="1"/>
              <a:t>traffic_light_test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reg</a:t>
            </a:r>
            <a:r>
              <a:rPr lang="en-US" dirty="0"/>
              <a:t> </a:t>
            </a:r>
            <a:r>
              <a:rPr lang="en-US" dirty="0" err="1"/>
              <a:t>clk</a:t>
            </a:r>
            <a:r>
              <a:rPr lang="en-US" dirty="0"/>
              <a:t>, </a:t>
            </a:r>
            <a:r>
              <a:rPr lang="en-US" dirty="0" err="1"/>
              <a:t>rst_n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wire g1, y1, r1, g2, y2, r2;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reg</a:t>
            </a:r>
            <a:r>
              <a:rPr lang="en-US" dirty="0"/>
              <a:t> [4:0] </a:t>
            </a:r>
            <a:r>
              <a:rPr lang="en-US" dirty="0" smtClean="0"/>
              <a:t>pass;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traffic_light</a:t>
            </a:r>
            <a:r>
              <a:rPr lang="en-US" dirty="0"/>
              <a:t> M0 ( .</a:t>
            </a:r>
            <a:r>
              <a:rPr lang="en-US" dirty="0" err="1"/>
              <a:t>clk</a:t>
            </a:r>
            <a:r>
              <a:rPr lang="en-US" dirty="0"/>
              <a:t>(</a:t>
            </a:r>
            <a:r>
              <a:rPr lang="en-US" dirty="0" err="1"/>
              <a:t>clk</a:t>
            </a:r>
            <a:r>
              <a:rPr lang="en-US" dirty="0"/>
              <a:t>), .</a:t>
            </a:r>
            <a:r>
              <a:rPr lang="en-US" dirty="0" err="1"/>
              <a:t>rst_n</a:t>
            </a:r>
            <a:r>
              <a:rPr lang="en-US" dirty="0"/>
              <a:t>(</a:t>
            </a:r>
            <a:r>
              <a:rPr lang="en-US" dirty="0" err="1"/>
              <a:t>rst_n</a:t>
            </a:r>
            <a:r>
              <a:rPr lang="en-US" dirty="0"/>
              <a:t>), .g1(g1), .y1(y1), .r1(r1), .g2(g2), .y2(y2), .r2(r2) ) ;</a:t>
            </a:r>
          </a:p>
          <a:p>
            <a:pPr marL="0" indent="0">
              <a:buNone/>
            </a:pPr>
            <a:r>
              <a:rPr lang="en-US" dirty="0"/>
              <a:t> </a:t>
            </a:r>
          </a:p>
          <a:p>
            <a:pPr marL="0" indent="0">
              <a:buNone/>
            </a:pPr>
            <a:r>
              <a:rPr lang="en-US" dirty="0"/>
              <a:t>	always begin</a:t>
            </a:r>
          </a:p>
          <a:p>
            <a:pPr marL="0" indent="0">
              <a:buNone/>
            </a:pPr>
            <a:r>
              <a:rPr lang="en-US" dirty="0"/>
              <a:t>		#5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clk</a:t>
            </a:r>
            <a:r>
              <a:rPr lang="en-US" dirty="0"/>
              <a:t> = ~</a:t>
            </a:r>
            <a:r>
              <a:rPr lang="en-US" dirty="0" err="1"/>
              <a:t>clk</a:t>
            </a:r>
            <a:r>
              <a:rPr lang="en-US" dirty="0"/>
              <a:t> ;</a:t>
            </a:r>
          </a:p>
          <a:p>
            <a:pPr marL="0" indent="0">
              <a:buNone/>
            </a:pPr>
            <a:r>
              <a:rPr lang="en-US" dirty="0"/>
              <a:t>	end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1303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2888" y="214489"/>
            <a:ext cx="11413068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initial begin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dirty="0" err="1">
                <a:latin typeface="Calibri" charset="0"/>
                <a:ea typeface="Calibri" charset="0"/>
                <a:cs typeface="Times New Roman" charset="0"/>
              </a:rPr>
              <a:t>clk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 = 0 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dirty="0" err="1">
                <a:latin typeface="Calibri" charset="0"/>
                <a:ea typeface="Calibri" charset="0"/>
                <a:cs typeface="Times New Roman" charset="0"/>
              </a:rPr>
              <a:t>rst_n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 = 0 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pass=0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#10 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dirty="0" err="1">
                <a:latin typeface="Calibri" charset="0"/>
                <a:ea typeface="Calibri" charset="0"/>
                <a:cs typeface="Times New Roman" charset="0"/>
              </a:rPr>
              <a:t>rst_n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 = 1 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(g1==1&amp;&amp;g2==0&amp;&amp;y1==0&amp;&amp;y2==0&amp;&amp;r1==0&amp;&amp;r2==1)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altLang="zh-TW" dirty="0" smtClean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=</a:t>
            </a:r>
            <a:r>
              <a:rPr lang="en-US" altLang="zh-TW" dirty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(g1==1&amp;&amp;g2==0&amp;&amp;y1==0&amp;&amp;y2==0&amp;&amp;r1==0&amp;&amp;r2==1)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altLang="zh-TW" dirty="0" smtClean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=</a:t>
            </a:r>
            <a:r>
              <a:rPr lang="en-US" altLang="zh-TW" dirty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(g1==1&amp;&amp;g2==0&amp;&amp;y1==0&amp;&amp;y2==0&amp;&amp;r1==0&amp;&amp;r2==1)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altLang="zh-TW" dirty="0" smtClean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=</a:t>
            </a:r>
            <a:r>
              <a:rPr lang="en-US" altLang="zh-TW" dirty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#10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	if (g1==0&amp;&amp;g2==0&amp;&amp;y1==1&amp;&amp;y2==0&amp;&amp;r1==0&amp;&amp;r2==1)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altLang="zh-TW" dirty="0" smtClean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=</a:t>
            </a:r>
            <a:r>
              <a:rPr lang="en-US" altLang="zh-TW" dirty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+1;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</a:t>
            </a:r>
            <a:endParaRPr lang="en-US" dirty="0">
              <a:latin typeface="Calibri" charset="0"/>
              <a:ea typeface="Calibri" charset="0"/>
              <a:cs typeface="Times New Roman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5057423"/>
            <a:ext cx="1257582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#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(g1==0&amp;&amp;g2==1&amp;&amp;y1==0&amp;&amp;y2==0&amp;&amp;r1==1&amp;&amp;r2==0)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altLang="zh-TW" dirty="0" smtClean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=</a:t>
            </a:r>
            <a:r>
              <a:rPr lang="en-US" altLang="zh-TW" dirty="0">
                <a:latin typeface="Calibri" charset="0"/>
                <a:ea typeface="Calibri" charset="0"/>
                <a:cs typeface="Times New Roman" charset="0"/>
              </a:rPr>
              <a:t>pass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(g1==0&amp;&amp;g2==1&amp;&amp;y1==0&amp;&amp;y2==0&amp;&amp;r1==1&amp;&amp;r2==0)</a:t>
            </a:r>
          </a:p>
          <a:p>
            <a:pPr algn="r"/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pass=pass+1;</a:t>
            </a:r>
            <a:endParaRPr lang="en-US" dirty="0">
              <a:latin typeface="Calibri" charset="0"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7265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-1309512" y="372533"/>
            <a:ext cx="1472071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#10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(g1==0&amp;&amp;g2==1&amp;&amp;y1==0&amp;&amp;y2==0&amp;&amp;r1==1&amp;&amp;r2==0)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pass=pass+1;</a:t>
            </a:r>
          </a:p>
          <a:p>
            <a:r>
              <a:rPr lang="en-US" altLang="zh-TW" dirty="0">
                <a:latin typeface="Calibri" charset="0"/>
                <a:ea typeface="Calibri" charset="0"/>
                <a:cs typeface="Times New Roman" charset="0"/>
              </a:rPr>
              <a:t>	</a:t>
            </a:r>
            <a:r>
              <a:rPr lang="en-US" altLang="zh-TW" dirty="0" smtClean="0">
                <a:latin typeface="Calibri" charset="0"/>
                <a:ea typeface="Calibri" charset="0"/>
                <a:cs typeface="Times New Roman" charset="0"/>
              </a:rPr>
              <a:t>	#10</a:t>
            </a:r>
            <a:endParaRPr lang="en-US" dirty="0" smtClean="0">
              <a:latin typeface="Calibri" charset="0"/>
              <a:ea typeface="Calibri" charset="0"/>
              <a:cs typeface="Times New Roman" charset="0"/>
            </a:endParaRP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if 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(g1==0&amp;&amp;g2==0&amp;&amp;y1==0&amp;&amp;y2==1&amp;&amp;r1==1&amp;&amp;r2==0)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pass=pass+1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(g1==1&amp;&amp;g2==0&amp;&amp;y1==0&amp;&amp;y2==0&amp;&amp;r1==0&amp;&amp;r2==1)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pass=pass+1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(g1==1&amp;&amp;g2==0&amp;&amp;y1==0&amp;&amp;y2==0&amp;&amp;r1==0&amp;&amp;r2==1)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pass=pass+1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#10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	if (g1==1&amp;&amp;g2==0&amp;&amp;y1==0&amp;&amp;y2==0&amp;&amp;r1==0&amp;&amp;r2==1)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	pass=pass+1;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	if (g1==0&amp;&amp;g2==0&amp;&amp;y1==1&amp;&amp;y2==0&amp;&amp;r1==0&amp;&amp;r2==1)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	pass=pass+1;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	if (g1==0&amp;&amp;g2==1&amp;&amp;y1==0&amp;&amp;y2==0&amp;&amp;r1==1&amp;&amp;r2==0)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	pass=pass+1;</a:t>
            </a:r>
          </a:p>
          <a:p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		</a:t>
            </a:r>
            <a:endParaRPr lang="en-US" dirty="0">
              <a:latin typeface="Calibri" charset="0"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22744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35467" y="778934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#10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(g1==0&amp;&amp;g2==1&amp;&amp;y1==0&amp;&amp;y2==0&amp;&amp;r1==1&amp;&amp;r2==0)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pass=pass+1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(g1==0&amp;&amp;g2==1&amp;&amp;y1==0&amp;&amp;y2==0&amp;&amp;r1==1&amp;&amp;r2==0)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pass=pass+1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#10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(g1==0&amp;&amp;g2==0&amp;&amp;y1==0&amp;&amp;y2==1&amp;&amp;r1==1&amp;&amp;r2==0)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pass=pass+1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if </a:t>
            </a:r>
            <a:r>
              <a:rPr lang="en-US" dirty="0" smtClean="0">
                <a:latin typeface="Calibri" charset="0"/>
                <a:ea typeface="Calibri" charset="0"/>
                <a:cs typeface="Times New Roman" charset="0"/>
              </a:rPr>
              <a:t>(pass==</a:t>
            </a:r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16)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	$display("PASS!");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	$finish;</a:t>
            </a:r>
          </a:p>
          <a:p>
            <a:r>
              <a:rPr lang="en-US" dirty="0">
                <a:latin typeface="Calibri" charset="0"/>
                <a:ea typeface="Calibri" charset="0"/>
                <a:cs typeface="Times New Roman" charset="0"/>
              </a:rPr>
              <a:t>	end</a:t>
            </a:r>
          </a:p>
        </p:txBody>
      </p:sp>
    </p:spTree>
    <p:extLst>
      <p:ext uri="{BB962C8B-B14F-4D97-AF65-F5344CB8AC3E}">
        <p14:creationId xmlns:p14="http://schemas.microsoft.com/office/powerpoint/2010/main" val="12400469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9644" y="1382174"/>
            <a:ext cx="11785599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initial begin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$monitor ( "time=%4d, </a:t>
            </a:r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clk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=%b, </a:t>
            </a:r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rst_n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=%b, r1=%b, g1=%b, y1=%b, r2=%b, g2=%b, y2=%b",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		$time, </a:t>
            </a:r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clk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, </a:t>
            </a:r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rst_n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, r1, g1, y1, r2, g2, y2 ) ;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end	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</a:t>
            </a:r>
            <a:r>
              <a:rPr lang="en-US" altLang="zh-TW" sz="2000" dirty="0" smtClean="0">
                <a:latin typeface="Calibri" charset="0"/>
                <a:ea typeface="Calibri" charset="0"/>
                <a:cs typeface="Times New Roman" charset="0"/>
              </a:rPr>
              <a:t>/</a:t>
            </a:r>
            <a:r>
              <a:rPr lang="zh-TW" altLang="en-US" sz="2000" dirty="0" smtClean="0">
                <a:latin typeface="Calibri" charset="0"/>
                <a:ea typeface="Calibri" charset="0"/>
                <a:cs typeface="Times New Roman" charset="0"/>
              </a:rPr>
              <a:t>*畫波形圖用*</a:t>
            </a:r>
            <a:r>
              <a:rPr lang="en-US" altLang="zh-TW" sz="2000" dirty="0" smtClean="0">
                <a:latin typeface="Calibri" charset="0"/>
                <a:ea typeface="Calibri" charset="0"/>
                <a:cs typeface="Times New Roman" charset="0"/>
              </a:rPr>
              <a:t>/</a:t>
            </a:r>
            <a:endParaRPr lang="en-US" sz="2000" dirty="0" smtClean="0">
              <a:latin typeface="Calibri" charset="0"/>
              <a:ea typeface="Calibri" charset="0"/>
              <a:cs typeface="Times New Roman" charset="0"/>
            </a:endParaRP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	</a:t>
            </a:r>
            <a:r>
              <a:rPr lang="en-US" sz="2000" dirty="0" smtClean="0">
                <a:latin typeface="Calibri" charset="0"/>
                <a:ea typeface="Calibri" charset="0"/>
                <a:cs typeface="Times New Roman" charset="0"/>
              </a:rPr>
              <a:t>initial 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begin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 	                $</a:t>
            </a:r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fsdbDumpfile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 ("</a:t>
            </a:r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trafficlight.fsdb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");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 	                $</a:t>
            </a:r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fsdbDumpvars</a:t>
            </a:r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 ;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 	end</a:t>
            </a:r>
          </a:p>
          <a:p>
            <a:r>
              <a:rPr lang="en-US" sz="2000" dirty="0">
                <a:latin typeface="Calibri" charset="0"/>
                <a:ea typeface="Calibri" charset="0"/>
                <a:cs typeface="Times New Roman" charset="0"/>
              </a:rPr>
              <a:t> 	                                        </a:t>
            </a:r>
          </a:p>
          <a:p>
            <a:r>
              <a:rPr lang="en-US" sz="2000" dirty="0" err="1">
                <a:latin typeface="Calibri" charset="0"/>
                <a:ea typeface="Calibri" charset="0"/>
                <a:cs typeface="Times New Roman" charset="0"/>
              </a:rPr>
              <a:t>endmodule</a:t>
            </a:r>
            <a:endParaRPr lang="en-US" sz="2000" dirty="0">
              <a:effectLst/>
              <a:latin typeface="Calibri" charset="0"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2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247</Words>
  <Application>Microsoft Macintosh PowerPoint</Application>
  <PresentationFormat>Widescreen</PresentationFormat>
  <Paragraphs>170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Andale Mono</vt:lpstr>
      <vt:lpstr>Calibri</vt:lpstr>
      <vt:lpstr>Calibri Light</vt:lpstr>
      <vt:lpstr>Tahoma</vt:lpstr>
      <vt:lpstr>Times New Roman</vt:lpstr>
      <vt:lpstr>微軟正黑體</vt:lpstr>
      <vt:lpstr>新細明體</vt:lpstr>
      <vt:lpstr>標楷體</vt:lpstr>
      <vt:lpstr>等线</vt:lpstr>
      <vt:lpstr>Arial</vt:lpstr>
      <vt:lpstr>Office 佈景主題</vt:lpstr>
      <vt:lpstr>Testbench教學</vt:lpstr>
      <vt:lpstr>何謂testbench？</vt:lpstr>
      <vt:lpstr>何謂testbench？</vt:lpstr>
      <vt:lpstr>Testbench分解部分</vt:lpstr>
      <vt:lpstr>always 產生clk怎麼寫？</vt:lpstr>
      <vt:lpstr>Initial介紹</vt:lpstr>
      <vt:lpstr>initial 怎麼寫？part1</vt:lpstr>
      <vt:lpstr>initial 怎麼寫？part2</vt:lpstr>
      <vt:lpstr>如何讓testbench結束</vt:lpstr>
      <vt:lpstr>範例-Lab4_框架</vt:lpstr>
      <vt:lpstr>範例-Lab4_testbench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15.0037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插入module 教學</dc:title>
  <dc:creator>Windows 使用者</dc:creator>
  <cp:lastModifiedBy>scort lin</cp:lastModifiedBy>
  <cp:revision>32</cp:revision>
  <dcterms:created xsi:type="dcterms:W3CDTF">2018-11-21T14:51:57Z</dcterms:created>
  <dcterms:modified xsi:type="dcterms:W3CDTF">2018-12-11T15:38:28Z</dcterms:modified>
</cp:coreProperties>
</file>