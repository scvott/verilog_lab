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1"/>
  </p:sldMasterIdLst>
  <p:sldIdLst>
    <p:sldId id="256" r:id="rId2"/>
    <p:sldId id="257" r:id="rId3"/>
    <p:sldId id="263" r:id="rId4"/>
    <p:sldId id="264" r:id="rId5"/>
    <p:sldId id="261" r:id="rId6"/>
    <p:sldId id="262" r:id="rId7"/>
    <p:sldId id="258" r:id="rId8"/>
    <p:sldId id="265" r:id="rId9"/>
    <p:sldId id="266" r:id="rId10"/>
    <p:sldId id="267" r:id="rId11"/>
    <p:sldId id="268" r:id="rId12"/>
    <p:sldId id="269" r:id="rId13"/>
    <p:sldId id="259" r:id="rId1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24" autoAdjust="0"/>
    <p:restoredTop sz="94660"/>
  </p:normalViewPr>
  <p:slideViewPr>
    <p:cSldViewPr snapToGrid="0">
      <p:cViewPr varScale="1">
        <p:scale>
          <a:sx n="76" d="100"/>
          <a:sy n="76" d="100"/>
        </p:scale>
        <p:origin x="102" y="9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2018/10/24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599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2018/10/24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9392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2018/10/24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6143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2018/10/24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2979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2018/10/24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6216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2018/10/24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8701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2018/10/24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296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2018/10/24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8957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2018/10/24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1967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2018/10/24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1410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2018/10/24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8766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987E7-ACE9-442D-944A-BFBD63E21F7A}" type="datetimeFigureOut">
              <a:rPr lang="zh-TW" altLang="en-US" smtClean="0"/>
              <a:t>2018/10/24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2335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數位系統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設計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Lab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3304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Lab</a:t>
            </a:r>
            <a:r>
              <a:rPr lang="zh-TW" altLang="en-US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目標</a:t>
            </a:r>
            <a:endParaRPr lang="zh-TW" alt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49" y="1600200"/>
            <a:ext cx="8225419" cy="4979020"/>
          </a:xfrm>
        </p:spPr>
        <p:txBody>
          <a:bodyPr>
            <a:noAutofit/>
          </a:bodyPr>
          <a:lstStyle/>
          <a:p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請同學修改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Lab2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的程式碼：</a:t>
            </a:r>
            <a:endParaRPr lang="en-US" altLang="zh-TW" sz="28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sz="25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8bit</a:t>
            </a:r>
            <a:r>
              <a:rPr lang="zh-TW" altLang="en-US" sz="2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加</a:t>
            </a:r>
            <a:r>
              <a:rPr lang="en-US" altLang="zh-TW" sz="2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減法器的組合</a:t>
            </a:r>
            <a:r>
              <a:rPr lang="zh-TW" altLang="en-US" sz="25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邏輯</a:t>
            </a:r>
            <a:endParaRPr lang="en-US" altLang="zh-TW" sz="25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輸入是</a:t>
            </a:r>
            <a:r>
              <a:rPr lang="en-US" altLang="zh-TW" sz="2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8-bit</a:t>
            </a:r>
            <a:r>
              <a:rPr lang="zh-TW" altLang="en-US" sz="2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2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en-US" altLang="zh-TW" sz="25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, b</a:t>
            </a:r>
            <a:r>
              <a:rPr lang="zh-TW" altLang="en-US" sz="2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以及</a:t>
            </a:r>
            <a:r>
              <a:rPr lang="en-US" altLang="zh-TW" sz="2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1-bit </a:t>
            </a:r>
            <a:r>
              <a:rPr lang="en-US" altLang="zh-TW" sz="25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add</a:t>
            </a:r>
          </a:p>
          <a:p>
            <a:pPr lvl="1"/>
            <a:endParaRPr lang="en-US" altLang="zh-TW" sz="25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加上輸出一個</a:t>
            </a:r>
            <a:r>
              <a:rPr lang="en-US" altLang="zh-TW" sz="2800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overflow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訊號，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例如說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1"/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(-64)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+ 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(-64)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= (-128</a:t>
            </a:r>
            <a:r>
              <a:rPr lang="en-US" altLang="zh-TW" sz="2400" baseline="-25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,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因為負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+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負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=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負，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overflow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= 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0</a:t>
            </a:r>
          </a:p>
          <a:p>
            <a:pPr marL="342900" lvl="1" indent="0">
              <a:buNone/>
            </a:pP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11000000</a:t>
            </a:r>
            <a:r>
              <a:rPr lang="en-US" altLang="zh-TW" sz="2400" baseline="-25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+ 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lvl="1" indent="0">
              <a:buNone/>
            </a:pPr>
            <a:r>
              <a:rPr lang="en-US" altLang="zh-TW" sz="2400" u="sng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+11000000</a:t>
            </a:r>
            <a:r>
              <a:rPr lang="en-US" altLang="zh-TW" sz="2400" baseline="-25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en-US" altLang="zh-TW" sz="2400" u="sng" baseline="-25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endParaRPr lang="en-US" altLang="zh-TW" sz="2400" u="sng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lvl="1" indent="0">
              <a:buNone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10000000</a:t>
            </a:r>
            <a:r>
              <a:rPr lang="en-US" altLang="zh-TW" sz="2400" baseline="-25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</a:p>
          <a:p>
            <a:pPr lvl="1"/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乘號 3"/>
          <p:cNvSpPr/>
          <p:nvPr/>
        </p:nvSpPr>
        <p:spPr>
          <a:xfrm>
            <a:off x="1061356" y="4816928"/>
            <a:ext cx="326572" cy="473529"/>
          </a:xfrm>
          <a:prstGeom prst="mathMultiply">
            <a:avLst>
              <a:gd name="adj1" fmla="val 75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5383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Lab</a:t>
            </a:r>
            <a:r>
              <a:rPr lang="zh-TW" altLang="en-US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目標</a:t>
            </a:r>
            <a:endParaRPr lang="zh-TW" alt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49" y="1600200"/>
            <a:ext cx="8225419" cy="4979020"/>
          </a:xfrm>
        </p:spPr>
        <p:txBody>
          <a:bodyPr>
            <a:noAutofit/>
          </a:bodyPr>
          <a:lstStyle/>
          <a:p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請同學修改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Lab2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的程式碼：</a:t>
            </a:r>
            <a:endParaRPr lang="en-US" altLang="zh-TW" sz="28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sz="25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8bit</a:t>
            </a:r>
            <a:r>
              <a:rPr lang="zh-TW" altLang="en-US" sz="2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加</a:t>
            </a:r>
            <a:r>
              <a:rPr lang="en-US" altLang="zh-TW" sz="2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減法器的組合</a:t>
            </a:r>
            <a:r>
              <a:rPr lang="zh-TW" altLang="en-US" sz="25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邏輯</a:t>
            </a:r>
            <a:endParaRPr lang="en-US" altLang="zh-TW" sz="25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輸入是</a:t>
            </a:r>
            <a:r>
              <a:rPr lang="en-US" altLang="zh-TW" sz="2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8-bit</a:t>
            </a:r>
            <a:r>
              <a:rPr lang="zh-TW" altLang="en-US" sz="2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2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en-US" altLang="zh-TW" sz="25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, b</a:t>
            </a:r>
            <a:r>
              <a:rPr lang="zh-TW" altLang="en-US" sz="2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以及</a:t>
            </a:r>
            <a:r>
              <a:rPr lang="en-US" altLang="zh-TW" sz="2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1-bit </a:t>
            </a:r>
            <a:r>
              <a:rPr lang="en-US" altLang="zh-TW" sz="25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add</a:t>
            </a:r>
          </a:p>
          <a:p>
            <a:pPr lvl="1"/>
            <a:endParaRPr lang="en-US" altLang="zh-TW" sz="25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加上輸出一個</a:t>
            </a:r>
            <a:r>
              <a:rPr lang="en-US" altLang="zh-TW" sz="2800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overflow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訊號，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例如說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1"/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(-64)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+ 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(-65)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= 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(127</a:t>
            </a:r>
            <a:r>
              <a:rPr lang="en-US" altLang="zh-TW" sz="2400" baseline="-25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,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因為負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+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負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=</a:t>
            </a:r>
            <a:r>
              <a:rPr lang="zh-TW" altLang="en-US" sz="2400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正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overflow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= 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  <a:p>
            <a:pPr marL="342900" lvl="1" indent="0">
              <a:buNone/>
            </a:pP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11000000</a:t>
            </a:r>
            <a:r>
              <a:rPr lang="en-US" altLang="zh-TW" sz="2400" baseline="-25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+ 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lvl="1" indent="0">
              <a:buNone/>
            </a:pPr>
            <a:r>
              <a:rPr lang="en-US" altLang="zh-TW" sz="2400" u="sng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+10111111</a:t>
            </a:r>
            <a:r>
              <a:rPr lang="en-US" altLang="zh-TW" sz="2400" baseline="-25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en-US" altLang="zh-TW" sz="2400" u="sng" baseline="-25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endParaRPr lang="en-US" altLang="zh-TW" sz="2400" u="sng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lvl="1" indent="0">
              <a:buNone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01111111</a:t>
            </a:r>
            <a:r>
              <a:rPr lang="en-US" altLang="zh-TW" sz="2400" baseline="-25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乘號 3"/>
          <p:cNvSpPr/>
          <p:nvPr/>
        </p:nvSpPr>
        <p:spPr>
          <a:xfrm>
            <a:off x="1061356" y="4816928"/>
            <a:ext cx="326572" cy="473529"/>
          </a:xfrm>
          <a:prstGeom prst="mathMultiply">
            <a:avLst>
              <a:gd name="adj1" fmla="val 75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8021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Lab</a:t>
            </a:r>
            <a:r>
              <a:rPr lang="zh-TW" altLang="en-US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目標</a:t>
            </a:r>
            <a:endParaRPr lang="zh-TW" alt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49" y="1600200"/>
            <a:ext cx="8225419" cy="4979020"/>
          </a:xfrm>
        </p:spPr>
        <p:txBody>
          <a:bodyPr>
            <a:noAutofit/>
          </a:bodyPr>
          <a:lstStyle/>
          <a:p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請同學修改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Lab2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的程式碼：</a:t>
            </a:r>
            <a:endParaRPr lang="en-US" altLang="zh-TW" sz="28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sz="25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8bit</a:t>
            </a:r>
            <a:r>
              <a:rPr lang="zh-TW" altLang="en-US" sz="2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加</a:t>
            </a:r>
            <a:r>
              <a:rPr lang="en-US" altLang="zh-TW" sz="2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減法器的組合</a:t>
            </a:r>
            <a:r>
              <a:rPr lang="zh-TW" altLang="en-US" sz="25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邏輯</a:t>
            </a:r>
            <a:endParaRPr lang="en-US" altLang="zh-TW" sz="25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輸入是</a:t>
            </a:r>
            <a:r>
              <a:rPr lang="en-US" altLang="zh-TW" sz="2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8-bit</a:t>
            </a:r>
            <a:r>
              <a:rPr lang="zh-TW" altLang="en-US" sz="2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2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en-US" altLang="zh-TW" sz="25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, b</a:t>
            </a:r>
            <a:r>
              <a:rPr lang="zh-TW" altLang="en-US" sz="2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以及</a:t>
            </a:r>
            <a:r>
              <a:rPr lang="en-US" altLang="zh-TW" sz="2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1-bit </a:t>
            </a:r>
            <a:r>
              <a:rPr lang="en-US" altLang="zh-TW" sz="25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add</a:t>
            </a:r>
          </a:p>
          <a:p>
            <a:pPr lvl="1"/>
            <a:endParaRPr lang="en-US" altLang="zh-TW" sz="25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加上輸出一個</a:t>
            </a:r>
            <a:r>
              <a:rPr lang="en-US" altLang="zh-TW" sz="2800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overflow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訊號，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例如說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1"/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100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+ 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65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= 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(-91</a:t>
            </a:r>
            <a:r>
              <a:rPr lang="en-US" altLang="zh-TW" sz="2400" baseline="-25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,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因為正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+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正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=</a:t>
            </a:r>
            <a:r>
              <a:rPr lang="zh-TW" altLang="en-US" sz="2400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負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overflow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= 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  <a:p>
            <a:pPr marL="342900" lvl="1" indent="0">
              <a:buNone/>
            </a:pP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01100100</a:t>
            </a:r>
            <a:r>
              <a:rPr lang="en-US" altLang="zh-TW" sz="2400" baseline="-25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+ 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lvl="1" indent="0">
              <a:buNone/>
            </a:pPr>
            <a:r>
              <a:rPr lang="en-US" altLang="zh-TW" sz="2400" u="sng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+01000001</a:t>
            </a:r>
            <a:r>
              <a:rPr lang="en-US" altLang="zh-TW" sz="2400" baseline="-25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en-US" altLang="zh-TW" sz="2400" u="sng" baseline="-25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endParaRPr lang="en-US" altLang="zh-TW" sz="2400" u="sng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lvl="1" indent="0">
              <a:buNone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10100101</a:t>
            </a:r>
            <a:r>
              <a:rPr lang="en-US" altLang="zh-TW" sz="2400" baseline="-25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44132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實驗內容</a:t>
            </a:r>
            <a:endParaRPr lang="zh-TW" alt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497724"/>
            <a:ext cx="8045450" cy="4679239"/>
          </a:xfrm>
        </p:spPr>
        <p:txBody>
          <a:bodyPr>
            <a:normAutofit/>
          </a:bodyPr>
          <a:lstStyle/>
          <a:p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修改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Lab2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用</a:t>
            </a:r>
            <a:r>
              <a:rPr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v</a:t>
            </a:r>
            <a:r>
              <a:rPr lang="en-US" altLang="zh-TW" sz="2800" dirty="0" err="1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erilog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設計一個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8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bit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加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/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減法器，並且增加一個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overflow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訊號</a:t>
            </a:r>
            <a:endParaRPr lang="en-US" altLang="zh-TW" sz="2800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用</a:t>
            </a:r>
            <a:r>
              <a:rPr lang="en-US" altLang="zh-TW" sz="2800" dirty="0" err="1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ncverilog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進行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模擬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，觀察文字輸出以及波形</a:t>
            </a:r>
            <a:endParaRPr lang="en-US" altLang="zh-TW" sz="2800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用</a:t>
            </a:r>
            <a:r>
              <a:rPr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testbench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測試運算結果是否正確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301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實驗內容</a:t>
            </a:r>
            <a:endParaRPr lang="zh-TW" alt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497724"/>
            <a:ext cx="8045450" cy="4679239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module 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名稱與輸入輸出訊號名稱請使用以下提供之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template</a:t>
            </a:r>
          </a:p>
          <a:p>
            <a:pPr marL="0" indent="0">
              <a:buNone/>
            </a:pPr>
            <a:r>
              <a:rPr lang="en-US" altLang="zh-TW" dirty="0" smtClean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module </a:t>
            </a:r>
            <a:r>
              <a:rPr lang="en-US" altLang="zh-TW" dirty="0" err="1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add_sub</a:t>
            </a:r>
            <a:r>
              <a:rPr lang="en-US" altLang="zh-TW" dirty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 ( add, a, b, </a:t>
            </a:r>
            <a:r>
              <a:rPr lang="en-US" altLang="zh-TW" dirty="0" smtClean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result, overflow); </a:t>
            </a:r>
            <a:endParaRPr lang="en-US" altLang="zh-TW" dirty="0">
              <a:latin typeface="Courier New" panose="02070309020205020404" pitchFamily="49" charset="0"/>
              <a:ea typeface="標楷體" panose="03000509000000000000" pitchFamily="65" charset="-12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dirty="0">
                <a:solidFill>
                  <a:schemeClr val="bg1"/>
                </a:solidFill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	// add = 1/0, doing the addition/subtraction</a:t>
            </a:r>
            <a:endParaRPr lang="en-US" altLang="zh-TW" dirty="0">
              <a:latin typeface="Courier New" panose="02070309020205020404" pitchFamily="49" charset="0"/>
              <a:ea typeface="標楷體" panose="03000509000000000000" pitchFamily="65" charset="-12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dirty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	input add; </a:t>
            </a:r>
            <a:endParaRPr lang="en-US" altLang="zh-TW" dirty="0">
              <a:solidFill>
                <a:schemeClr val="bg1"/>
              </a:solidFill>
              <a:latin typeface="Courier New" panose="02070309020205020404" pitchFamily="49" charset="0"/>
              <a:ea typeface="標楷體" panose="03000509000000000000" pitchFamily="65" charset="-12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dirty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	input </a:t>
            </a:r>
            <a:r>
              <a:rPr lang="en-US" altLang="zh-TW" dirty="0" smtClean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[7:0</a:t>
            </a:r>
            <a:r>
              <a:rPr lang="en-US" altLang="zh-TW" dirty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] </a:t>
            </a:r>
            <a:r>
              <a:rPr lang="en-US" altLang="zh-TW" dirty="0" err="1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a,b</a:t>
            </a:r>
            <a:r>
              <a:rPr lang="en-US" altLang="zh-TW" dirty="0" smtClean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TW" dirty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	</a:t>
            </a:r>
            <a:r>
              <a:rPr lang="en-US" altLang="zh-TW" dirty="0" smtClean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wire signed [7:0]</a:t>
            </a:r>
            <a:r>
              <a:rPr lang="en-US" altLang="zh-TW" dirty="0" err="1" smtClean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a,b</a:t>
            </a:r>
            <a:r>
              <a:rPr lang="en-US" altLang="zh-TW" dirty="0" smtClean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;</a:t>
            </a:r>
            <a:r>
              <a:rPr lang="en-US" altLang="zh-TW" dirty="0" smtClean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 </a:t>
            </a:r>
            <a:endParaRPr lang="en-US" altLang="zh-TW" dirty="0" smtClean="0">
              <a:latin typeface="Courier New" panose="02070309020205020404" pitchFamily="49" charset="0"/>
              <a:ea typeface="標楷體" panose="03000509000000000000" pitchFamily="65" charset="-12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dirty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	</a:t>
            </a:r>
            <a:r>
              <a:rPr lang="en-US" altLang="zh-TW" dirty="0" smtClean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output overflow;</a:t>
            </a:r>
            <a:endParaRPr lang="en-US" altLang="zh-TW" dirty="0">
              <a:latin typeface="Courier New" panose="02070309020205020404" pitchFamily="49" charset="0"/>
              <a:ea typeface="標楷體" panose="03000509000000000000" pitchFamily="65" charset="-12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dirty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	output </a:t>
            </a:r>
            <a:r>
              <a:rPr lang="en-US" altLang="zh-TW" dirty="0" smtClean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[7:0</a:t>
            </a:r>
            <a:r>
              <a:rPr lang="en-US" altLang="zh-TW" dirty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] result</a:t>
            </a:r>
            <a:r>
              <a:rPr lang="en-US" altLang="zh-TW" dirty="0" smtClean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TW" dirty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	</a:t>
            </a:r>
            <a:r>
              <a:rPr lang="en-US" altLang="zh-TW" dirty="0" smtClean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wire signed [7:0] result;</a:t>
            </a:r>
            <a:endParaRPr lang="en-US" altLang="zh-TW" dirty="0">
              <a:latin typeface="Courier New" panose="02070309020205020404" pitchFamily="49" charset="0"/>
              <a:ea typeface="標楷體" panose="03000509000000000000" pitchFamily="65" charset="-12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zh-TW" altLang="en-US" dirty="0">
                <a:solidFill>
                  <a:srgbClr val="00B0F0"/>
                </a:solidFill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       </a:t>
            </a:r>
            <a:r>
              <a:rPr lang="en-US" altLang="zh-TW" dirty="0">
                <a:solidFill>
                  <a:schemeClr val="bg1"/>
                </a:solidFill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// Write your codes here  </a:t>
            </a:r>
          </a:p>
          <a:p>
            <a:pPr marL="0" indent="0">
              <a:buNone/>
            </a:pPr>
            <a:endParaRPr lang="en-US" altLang="zh-TW" dirty="0">
              <a:solidFill>
                <a:schemeClr val="bg1"/>
              </a:solidFill>
              <a:latin typeface="Courier New" panose="02070309020205020404" pitchFamily="49" charset="0"/>
              <a:ea typeface="標楷體" panose="03000509000000000000" pitchFamily="65" charset="-12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dirty="0" err="1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endmodule</a:t>
            </a:r>
            <a:r>
              <a:rPr lang="en-US" altLang="zh-TW" dirty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526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497724"/>
            <a:ext cx="7886700" cy="4679239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I/O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描述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1"/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add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：當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add==1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時，輸出</a:t>
            </a:r>
            <a:r>
              <a:rPr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a+b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；當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add==0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時，輸出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a-b</a:t>
            </a:r>
          </a:p>
          <a:p>
            <a:pPr lvl="1"/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a, b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：輸入訊號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1"/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result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：加或減的計算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結果</a:t>
            </a:r>
            <a:endParaRPr lang="en-US" altLang="zh-TW" sz="2800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1"/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overflow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：發生溢位的時候為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，否則為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0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r>
              <a:rPr lang="zh-TW" altLang="en-US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實驗內容</a:t>
            </a:r>
            <a:endParaRPr lang="zh-TW" alt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38838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297" y="1806844"/>
            <a:ext cx="6877050" cy="4889152"/>
          </a:xfrm>
          <a:prstGeom prst="rect">
            <a:avLst/>
          </a:prstGeom>
        </p:spPr>
      </p:pic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Design Compiler</a:t>
            </a:r>
            <a:r>
              <a:rPr lang="zh-TW" altLang="en-US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產生電路圖</a:t>
            </a:r>
            <a:endParaRPr lang="zh-TW" alt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28650" y="1429079"/>
            <a:ext cx="23647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 smtClean="0">
                <a:solidFill>
                  <a:srgbClr val="FF0000"/>
                </a:solidFill>
              </a:rPr>
              <a:t>1.</a:t>
            </a:r>
            <a:r>
              <a:rPr lang="zh-TW" altLang="en-US" sz="2800" dirty="0" smtClean="0">
                <a:solidFill>
                  <a:srgbClr val="FF0000"/>
                </a:solidFill>
              </a:rPr>
              <a:t> </a:t>
            </a:r>
            <a:r>
              <a:rPr lang="en-US" altLang="zh-TW" sz="2800" dirty="0" err="1" smtClean="0">
                <a:solidFill>
                  <a:srgbClr val="FF0000"/>
                </a:solidFill>
              </a:rPr>
              <a:t>dc_shell</a:t>
            </a:r>
            <a:r>
              <a:rPr lang="en-US" altLang="zh-TW" sz="2800" dirty="0" smtClean="0">
                <a:solidFill>
                  <a:srgbClr val="FF0000"/>
                </a:solidFill>
              </a:rPr>
              <a:t> </a:t>
            </a:r>
            <a:r>
              <a:rPr lang="en-US" altLang="zh-TW" sz="2800" dirty="0">
                <a:solidFill>
                  <a:srgbClr val="FF0000"/>
                </a:solidFill>
              </a:rPr>
              <a:t>-</a:t>
            </a:r>
            <a:r>
              <a:rPr lang="en-US" altLang="zh-TW" sz="2800" dirty="0" err="1">
                <a:solidFill>
                  <a:srgbClr val="FF0000"/>
                </a:solidFill>
              </a:rPr>
              <a:t>gui</a:t>
            </a:r>
            <a:endParaRPr lang="en-US" altLang="zh-TW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7985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Design Compiler</a:t>
            </a:r>
            <a:r>
              <a:rPr lang="zh-TW" altLang="en-US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產生電路圖</a:t>
            </a:r>
            <a:endParaRPr lang="zh-TW" alt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318" y="1491343"/>
            <a:ext cx="6515100" cy="5181600"/>
          </a:xfrm>
          <a:prstGeom prst="rect">
            <a:avLst/>
          </a:prstGeom>
        </p:spPr>
      </p:pic>
      <p:sp>
        <p:nvSpPr>
          <p:cNvPr id="5" name="橢圓 4"/>
          <p:cNvSpPr/>
          <p:nvPr/>
        </p:nvSpPr>
        <p:spPr>
          <a:xfrm>
            <a:off x="1005840" y="1690689"/>
            <a:ext cx="483326" cy="42549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>
            <a:off x="1227909" y="1903436"/>
            <a:ext cx="809897" cy="42549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9245" y="2616754"/>
            <a:ext cx="5613763" cy="3979376"/>
          </a:xfrm>
          <a:prstGeom prst="rect">
            <a:avLst/>
          </a:prstGeom>
        </p:spPr>
      </p:pic>
      <p:sp>
        <p:nvSpPr>
          <p:cNvPr id="9" name="橢圓 8"/>
          <p:cNvSpPr/>
          <p:nvPr/>
        </p:nvSpPr>
        <p:spPr>
          <a:xfrm>
            <a:off x="3130732" y="3468939"/>
            <a:ext cx="1611085" cy="24091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6788876" y="5724459"/>
            <a:ext cx="954132" cy="27139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2457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50" y="1517469"/>
            <a:ext cx="6515100" cy="5181600"/>
          </a:xfrm>
          <a:prstGeom prst="rect">
            <a:avLst/>
          </a:prstGeom>
        </p:spPr>
      </p:pic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Design Compiler</a:t>
            </a:r>
            <a:r>
              <a:rPr lang="zh-TW" altLang="en-US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產生電路圖</a:t>
            </a:r>
            <a:endParaRPr lang="zh-TW" alt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橢圓 5"/>
          <p:cNvSpPr/>
          <p:nvPr/>
        </p:nvSpPr>
        <p:spPr>
          <a:xfrm>
            <a:off x="1828800" y="2538845"/>
            <a:ext cx="809897" cy="42549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>
            <a:off x="4332514" y="1902020"/>
            <a:ext cx="500743" cy="42549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1424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556657"/>
            <a:ext cx="6515100" cy="5181600"/>
          </a:xfrm>
          <a:prstGeom prst="rect">
            <a:avLst/>
          </a:prstGeom>
        </p:spPr>
      </p:pic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Design Compiler</a:t>
            </a:r>
            <a:r>
              <a:rPr lang="zh-TW" altLang="en-US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產生電路圖</a:t>
            </a:r>
            <a:endParaRPr lang="zh-TW" alt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橢圓 5"/>
          <p:cNvSpPr/>
          <p:nvPr/>
        </p:nvSpPr>
        <p:spPr>
          <a:xfrm>
            <a:off x="3043646" y="2851423"/>
            <a:ext cx="3958045" cy="155076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2927714" y="2359000"/>
            <a:ext cx="19463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 smtClean="0">
                <a:solidFill>
                  <a:srgbClr val="FF0000"/>
                </a:solidFill>
              </a:rPr>
              <a:t>Double click</a:t>
            </a:r>
            <a:endParaRPr lang="en-US" altLang="zh-TW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8947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Design Compiler</a:t>
            </a:r>
            <a:r>
              <a:rPr lang="zh-TW" altLang="en-US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產生電路圖</a:t>
            </a:r>
            <a:endParaRPr lang="zh-TW" alt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50" y="1386840"/>
            <a:ext cx="6515100" cy="5181600"/>
          </a:xfrm>
          <a:prstGeom prst="rect">
            <a:avLst/>
          </a:prstGeom>
        </p:spPr>
      </p:pic>
      <p:sp>
        <p:nvSpPr>
          <p:cNvPr id="7" name="橢圓 6"/>
          <p:cNvSpPr/>
          <p:nvPr/>
        </p:nvSpPr>
        <p:spPr>
          <a:xfrm>
            <a:off x="3043646" y="2851423"/>
            <a:ext cx="3958045" cy="155076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2927714" y="2359000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800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截圖上傳</a:t>
            </a:r>
            <a:endParaRPr lang="en-US" altLang="zh-TW" sz="28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25729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繳交作業</a:t>
            </a:r>
            <a:r>
              <a:rPr lang="zh-TW" altLang="en-US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方式</a:t>
            </a:r>
            <a:endParaRPr lang="zh-TW" alt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請用壓縮檔繳交至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iLearn2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Lab3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檔案名稱請包括學號，</a:t>
            </a:r>
            <a:r>
              <a:rPr lang="en-US" altLang="zh-TW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D</a:t>
            </a:r>
            <a:r>
              <a:rPr lang="zh-TW" altLang="en-US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大寫</a:t>
            </a:r>
            <a:endParaRPr lang="en-US" altLang="zh-TW" sz="28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內容包含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1"/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1.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程式碼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一個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.v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檔，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請不要把</a:t>
            </a:r>
            <a:r>
              <a:rPr lang="en-US" altLang="zh-TW" sz="2400" dirty="0" err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testbench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一起傳上來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報告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2"/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報告請存成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pdf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檔，內容必須包括：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2"/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A.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程式碼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2"/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B.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文字輸出截</a:t>
            </a:r>
            <a:r>
              <a:rPr lang="zh-TW" altLang="en-US" sz="1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圖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2"/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C. 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nWave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波型</a:t>
            </a:r>
            <a:r>
              <a:rPr lang="zh-TW" altLang="en-US" sz="1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圖</a:t>
            </a:r>
            <a:endParaRPr lang="en-US" altLang="zh-TW" sz="1800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2"/>
            <a:r>
              <a:rPr lang="en-US" altLang="zh-TW" sz="1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D.</a:t>
            </a:r>
            <a:r>
              <a:rPr lang="zh-TW" altLang="en-US" sz="1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電路圖</a:t>
            </a:r>
            <a:r>
              <a:rPr lang="en-US" altLang="zh-TW" sz="1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(Design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Compiler</a:t>
            </a:r>
            <a:r>
              <a:rPr lang="zh-TW" altLang="en-US" sz="1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產生</a:t>
            </a:r>
            <a:r>
              <a:rPr lang="en-US" altLang="zh-TW" sz="1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2"/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</a:t>
            </a:r>
            <a:r>
              <a:rPr lang="en-US" altLang="zh-TW" sz="1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.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簡單心得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描述碰到的問題以及解決方式等等</a:t>
            </a:r>
            <a:r>
              <a:rPr lang="en-US" altLang="zh-TW" sz="1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en-US" sz="1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截止日期：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10/31 23:59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407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892</TotalTime>
  <Words>435</Words>
  <Application>Microsoft Office PowerPoint</Application>
  <PresentationFormat>如螢幕大小 (4:3)</PresentationFormat>
  <Paragraphs>75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2" baseType="lpstr">
      <vt:lpstr>微軟正黑體</vt:lpstr>
      <vt:lpstr>新細明體</vt:lpstr>
      <vt:lpstr>標楷體</vt:lpstr>
      <vt:lpstr>Arial</vt:lpstr>
      <vt:lpstr>Calibri</vt:lpstr>
      <vt:lpstr>Calibri Light</vt:lpstr>
      <vt:lpstr>Courier New</vt:lpstr>
      <vt:lpstr>Times New Roman</vt:lpstr>
      <vt:lpstr>Office 佈景主題</vt:lpstr>
      <vt:lpstr>數位系統設計 Lab 3</vt:lpstr>
      <vt:lpstr>Lab目標</vt:lpstr>
      <vt:lpstr>Lab目標</vt:lpstr>
      <vt:lpstr>Lab目標</vt:lpstr>
      <vt:lpstr>實驗內容</vt:lpstr>
      <vt:lpstr>實驗內容</vt:lpstr>
      <vt:lpstr>實驗內容</vt:lpstr>
      <vt:lpstr>Design Compiler產生電路圖</vt:lpstr>
      <vt:lpstr>Design Compiler產生電路圖</vt:lpstr>
      <vt:lpstr>Design Compiler產生電路圖</vt:lpstr>
      <vt:lpstr>Design Compiler產生電路圖</vt:lpstr>
      <vt:lpstr>Design Compiler產生電路圖</vt:lpstr>
      <vt:lpstr>繳交作業方式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數位系統設計 Lab 1</dc:title>
  <dc:creator>Han</dc:creator>
  <cp:lastModifiedBy>Windows 使用者</cp:lastModifiedBy>
  <cp:revision>114</cp:revision>
  <dcterms:created xsi:type="dcterms:W3CDTF">2017-10-24T18:28:39Z</dcterms:created>
  <dcterms:modified xsi:type="dcterms:W3CDTF">2018-10-24T13:35:36Z</dcterms:modified>
</cp:coreProperties>
</file>